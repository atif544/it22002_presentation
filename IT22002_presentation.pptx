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5" r:id="rId1"/>
  </p:sldMasterIdLst>
  <p:notesMasterIdLst>
    <p:notesMasterId r:id="rId13"/>
  </p:notesMasterIdLst>
  <p:sldIdLst>
    <p:sldId id="279" r:id="rId2"/>
    <p:sldId id="280" r:id="rId3"/>
    <p:sldId id="281" r:id="rId4"/>
    <p:sldId id="282" r:id="rId5"/>
    <p:sldId id="278" r:id="rId6"/>
    <p:sldId id="283" r:id="rId7"/>
    <p:sldId id="284" r:id="rId8"/>
    <p:sldId id="285" r:id="rId9"/>
    <p:sldId id="286" r:id="rId10"/>
    <p:sldId id="287" r:id="rId11"/>
    <p:sldId id="28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extLst>
      <p:ext uri="{BB962C8B-B14F-4D97-AF65-F5344CB8AC3E}">
        <p14:creationId xmlns:p14="http://schemas.microsoft.com/office/powerpoint/2010/main" val="2577995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66007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1328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20636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972720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043582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81139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597416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808230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696678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a consistent reference style, preferably IEEE numbering, and match citations used in the presentation. Include the few references that the audience needs. Replace every bracketed field. Use an additional reference slide if needed rather than making the text too small.</a:t>
            </a:r>
          </a:p>
          <a:p>
            <a:endParaRPr/>
          </a:p>
          <a:p>
            <a:r>
              <a:t>Branding sources: official COMPAS 2026 logo and University of Dhaka crest downloaded unchanged from https://www.compasconf.org/ on 2 October 2026. IEEE Computer Society Bangladesh Chapter logo extracted unchanged from the user-supplied COMPAS2025_Oral_Presentation_Template.pptx.</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1194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Replace the contact details and use this slide during questions. An optional paper, project or code link can be added if appropriate. Remove unused placeholders. Keep backup slides after this slide if they help answer questions.</a:t>
            </a:r>
          </a:p>
          <a:p>
            <a:endParaRPr/>
          </a:p>
          <a:p>
            <a:r>
              <a:t>Branding sources: official COMPAS 2026 logo and University of Dhaka crest downloaded unchanged from https://www.compasconf.org/ on 2 October 2026. IEEE Computer Society Bangladesh Chapter logo extracted unchanged from the user-supplied COMPAS2025_Oral_Presentation_Template.pptx.</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06864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102B523F-4A76-4E2C-8D27-69CD37690CE4}"/>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EE55822D-5016-45E5-8C15-881BB8C8EA3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17F5B9D4-0123-4C18-9583-695CC2AB40F5}"/>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1A47B0A4-A7F6-4E0B-B744-2E67AF5A7EB6}"/>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F1F6662D-050C-4862-97B5-84B8B545425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8F3CC39C-173A-425E-96F9-AAA59070EFB2}"/>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E076B44F-3A8C-466D-ACA7-28D7D7A7B6C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18433A48-F09B-41F0-BDFF-7FD38F2B5CB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6A1F5BEE-3546-4FD4-8997-E7031049A4E6}"/>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7B19C615-25B5-4F8C-ABE2-0E90AF0AD91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62C439C1-1F21-4425-94CE-39DC4496669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3EB4EFF2-D010-42B9-AC45-0AA9934641E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7D92B0AA-991D-4E39-BBA5-A88B9EC20E63}"/>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964715FF-34F9-4BED-81DB-BE304407FC8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864130CB-59CC-4397-B4F0-9AE641D2935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https://doi.org/10.1109/ACCESS.2026.3671648"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2.png"/><Relationship Id="rId4" Type="http://schemas.openxmlformats.org/officeDocument/2006/relationships/hyperlink" Target="https://doi.org/10.1016/j.cja.2021.12.013"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mailto:it22002@mbstu.ac.bd"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899C9E-F931-7647-84FC-99213D0E104E}"/>
              </a:ext>
            </a:extLst>
          </p:cNvPr>
          <p:cNvPicPr>
            <a:picLocks noChangeAspect="1"/>
          </p:cNvPicPr>
          <p:nvPr/>
        </p:nvPicPr>
        <p:blipFill>
          <a:blip r:embed="rId3"/>
          <a:stretch>
            <a:fillRect/>
          </a:stretch>
        </p:blipFill>
        <p:spPr>
          <a:xfrm>
            <a:off x="0" y="-1"/>
            <a:ext cx="12192000" cy="6858001"/>
          </a:xfrm>
          <a:prstGeom prst="rect">
            <a:avLst/>
          </a:prstGeom>
        </p:spPr>
      </p:pic>
    </p:spTree>
    <p:extLst>
      <p:ext uri="{BB962C8B-B14F-4D97-AF65-F5344CB8AC3E}">
        <p14:creationId xmlns:p14="http://schemas.microsoft.com/office/powerpoint/2010/main" val="814904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resentation outline">
            <a:extLst>
              <a:ext uri="{FF2B5EF4-FFF2-40B4-BE49-F238E27FC236}">
                <a16:creationId xmlns:a16="http://schemas.microsoft.com/office/drawing/2014/main" id="{A5B029C4-4D0D-4FCE-A4FC-38AB3AC3F991}"/>
              </a:ext>
            </a:extLst>
          </p:cNvPr>
          <p:cNvSpPr>
            <a:spLocks noGrp="1"/>
          </p:cNvSpPr>
          <p:nvPr/>
        </p:nvSpPr>
        <p:spPr>
          <a:xfrm>
            <a:off x="647700" y="1181100"/>
            <a:ext cx="10810875" cy="628650"/>
          </a:xfrm>
          <a:prstGeom prst="rect">
            <a:avLst/>
          </a:prstGeom>
          <a:noFill/>
          <a:ln w="0">
            <a:noFill/>
          </a:ln>
        </p:spPr>
        <p:txBody>
          <a:bodyPr wrap="square" lIns="0" tIns="0" rIns="0" bIns="0" anchor="t">
            <a:noAutofit/>
          </a:bodyPr>
          <a:lstStyle/>
          <a:p>
            <a:pPr>
              <a:defRPr sz="2900" b="1">
                <a:solidFill>
                  <a:srgbClr val="12263D"/>
                </a:solidFill>
                <a:latin typeface="Calibri"/>
                <a:ea typeface="Calibri"/>
                <a:cs typeface="Calibri"/>
              </a:defRPr>
            </a:pPr>
            <a:r>
              <a:rPr sz="3600" b="1" dirty="0">
                <a:solidFill>
                  <a:srgbClr val="12263D"/>
                </a:solidFill>
                <a:latin typeface="Calibri"/>
                <a:ea typeface="Calibri"/>
                <a:cs typeface="Calibri"/>
              </a:rPr>
              <a:t>Presentation </a:t>
            </a:r>
            <a:r>
              <a:rPr lang="en-US" sz="3600" b="1" dirty="0">
                <a:solidFill>
                  <a:srgbClr val="12263D"/>
                </a:solidFill>
                <a:latin typeface="Calibri"/>
                <a:ea typeface="Calibri"/>
                <a:cs typeface="Calibri"/>
              </a:rPr>
              <a:t>O</a:t>
            </a:r>
            <a:r>
              <a:rPr sz="3600" b="1" dirty="0">
                <a:solidFill>
                  <a:srgbClr val="12263D"/>
                </a:solidFill>
                <a:latin typeface="Calibri"/>
                <a:ea typeface="Calibri"/>
                <a:cs typeface="Calibri"/>
              </a:rPr>
              <a:t>utline</a:t>
            </a:r>
          </a:p>
        </p:txBody>
      </p:sp>
      <p:sp>
        <p:nvSpPr>
          <p:cNvPr id="7" name="Straight Connector 6">
            <a:extLst>
              <a:ext uri="{FF2B5EF4-FFF2-40B4-BE49-F238E27FC236}">
                <a16:creationId xmlns:a16="http://schemas.microsoft.com/office/drawing/2014/main" id="{40818E8B-31FC-4A6E-90AF-3395CC9FB307}"/>
              </a:ext>
            </a:extLst>
          </p:cNvPr>
          <p:cNvSpPr>
            <a:spLocks noGrp="1"/>
          </p:cNvSpPr>
          <p:nvPr/>
        </p:nvSpPr>
        <p:spPr>
          <a:xfrm>
            <a:off x="647700" y="1933575"/>
            <a:ext cx="10896600" cy="0"/>
          </a:xfrm>
          <a:prstGeom prst="line">
            <a:avLst/>
          </a:prstGeom>
          <a:noFill/>
          <a:ln w="9525">
            <a:solidFill>
              <a:srgbClr val="D7E1E9"/>
            </a:solidFill>
          </a:ln>
        </p:spPr>
        <p:txBody>
          <a:bodyPr/>
          <a:lstStyle/>
          <a:p>
            <a:endParaRPr lang="en-GB" sz="2400"/>
          </a:p>
        </p:txBody>
      </p:sp>
      <p:sp>
        <p:nvSpPr>
          <p:cNvPr id="8" name="Straight Connector 7">
            <a:extLst>
              <a:ext uri="{FF2B5EF4-FFF2-40B4-BE49-F238E27FC236}">
                <a16:creationId xmlns:a16="http://schemas.microsoft.com/office/drawing/2014/main" id="{C7B19126-FE68-4054-976E-5994B09C55CD}"/>
              </a:ext>
            </a:extLst>
          </p:cNvPr>
          <p:cNvSpPr>
            <a:spLocks noGrp="1"/>
          </p:cNvSpPr>
          <p:nvPr/>
        </p:nvSpPr>
        <p:spPr>
          <a:xfrm>
            <a:off x="647700" y="6238875"/>
            <a:ext cx="10896600" cy="0"/>
          </a:xfrm>
          <a:prstGeom prst="line">
            <a:avLst/>
          </a:prstGeom>
          <a:noFill/>
          <a:ln w="9525">
            <a:solidFill>
              <a:srgbClr val="D7E1E9"/>
            </a:solidFill>
          </a:ln>
        </p:spPr>
        <p:txBody>
          <a:bodyPr/>
          <a:lstStyle/>
          <a:p>
            <a:endParaRPr lang="en-GB" sz="2000"/>
          </a:p>
        </p:txBody>
      </p:sp>
      <p:sp>
        <p:nvSpPr>
          <p:cNvPr id="9" name="[Short paper title]">
            <a:extLst>
              <a:ext uri="{FF2B5EF4-FFF2-40B4-BE49-F238E27FC236}">
                <a16:creationId xmlns:a16="http://schemas.microsoft.com/office/drawing/2014/main" id="{A3CE7BE6-4568-409C-98CF-829D404FDF68}"/>
              </a:ext>
            </a:extLst>
          </p:cNvPr>
          <p:cNvSpPr>
            <a:spLocks noGrp="1"/>
          </p:cNvSpPr>
          <p:nvPr/>
        </p:nvSpPr>
        <p:spPr>
          <a:xfrm>
            <a:off x="647700" y="6419850"/>
            <a:ext cx="6429375"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r>
              <a:rPr lang="en-US" sz="2000" dirty="0">
                <a:solidFill>
                  <a:srgbClr val="627185"/>
                </a:solidFill>
                <a:latin typeface="Calibri"/>
              </a:rPr>
              <a:t>6G Architecture &amp; Requirements</a:t>
            </a:r>
            <a:endParaRPr lang="en-US" sz="2000" dirty="0">
              <a:solidFill>
                <a:srgbClr val="627185"/>
              </a:solidFill>
              <a:latin typeface="Calibri"/>
              <a:ea typeface="Calibri"/>
              <a:cs typeface="Calibri"/>
            </a:endParaRPr>
          </a:p>
        </p:txBody>
      </p:sp>
      <p:sp>
        <p:nvSpPr>
          <p:cNvPr id="10" name="Paper ID: [000]">
            <a:extLst>
              <a:ext uri="{FF2B5EF4-FFF2-40B4-BE49-F238E27FC236}">
                <a16:creationId xmlns:a16="http://schemas.microsoft.com/office/drawing/2014/main" id="{15D47F79-4AB8-47CD-91E7-7CBBE6A8FB89}"/>
              </a:ext>
            </a:extLst>
          </p:cNvPr>
          <p:cNvSpPr>
            <a:spLocks noGrp="1"/>
          </p:cNvSpPr>
          <p:nvPr/>
        </p:nvSpPr>
        <p:spPr>
          <a:xfrm>
            <a:off x="8905875" y="6419850"/>
            <a:ext cx="2000250"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endParaRPr sz="2000" b="0" dirty="0">
              <a:solidFill>
                <a:srgbClr val="627185"/>
              </a:solidFill>
              <a:latin typeface="Calibri"/>
              <a:ea typeface="Calibri"/>
              <a:cs typeface="Calibri"/>
            </a:endParaRPr>
          </a:p>
        </p:txBody>
      </p:sp>
      <p:sp>
        <p:nvSpPr>
          <p:cNvPr id="11" name="02">
            <a:extLst>
              <a:ext uri="{FF2B5EF4-FFF2-40B4-BE49-F238E27FC236}">
                <a16:creationId xmlns:a16="http://schemas.microsoft.com/office/drawing/2014/main" id="{FF903C05-AC3D-481E-B667-A4BCA773EB75}"/>
              </a:ext>
            </a:extLst>
          </p:cNvPr>
          <p:cNvSpPr>
            <a:spLocks noGrp="1"/>
          </p:cNvSpPr>
          <p:nvPr/>
        </p:nvSpPr>
        <p:spPr>
          <a:xfrm>
            <a:off x="11125200" y="6419850"/>
            <a:ext cx="419100" cy="219075"/>
          </a:xfrm>
          <a:prstGeom prst="rect">
            <a:avLst/>
          </a:prstGeom>
          <a:noFill/>
          <a:ln w="0">
            <a:noFill/>
          </a:ln>
        </p:spPr>
        <p:txBody>
          <a:bodyPr wrap="square" lIns="0" tIns="0" rIns="0" bIns="0" anchor="t">
            <a:noAutofit/>
          </a:bodyPr>
          <a:lstStyle/>
          <a:p>
            <a:pPr>
              <a:defRPr sz="1000" b="1">
                <a:solidFill>
                  <a:srgbClr val="0067A6"/>
                </a:solidFill>
                <a:latin typeface="Calibri"/>
                <a:ea typeface="Calibri"/>
                <a:cs typeface="Calibri"/>
              </a:defRPr>
            </a:pPr>
            <a:r>
              <a:rPr sz="2000" b="1">
                <a:solidFill>
                  <a:srgbClr val="0067A6"/>
                </a:solidFill>
                <a:latin typeface="Calibri"/>
                <a:ea typeface="Calibri"/>
                <a:cs typeface="Calibri"/>
              </a:rPr>
              <a:t>02</a:t>
            </a:r>
          </a:p>
        </p:txBody>
      </p:sp>
      <p:sp>
        <p:nvSpPr>
          <p:cNvPr id="12" name="01">
            <a:extLst>
              <a:ext uri="{FF2B5EF4-FFF2-40B4-BE49-F238E27FC236}">
                <a16:creationId xmlns:a16="http://schemas.microsoft.com/office/drawing/2014/main" id="{C3A7E6A0-ECFF-478D-B75E-BDC1721D4810}"/>
              </a:ext>
            </a:extLst>
          </p:cNvPr>
          <p:cNvSpPr>
            <a:spLocks noGrp="1"/>
          </p:cNvSpPr>
          <p:nvPr/>
        </p:nvSpPr>
        <p:spPr>
          <a:xfrm>
            <a:off x="666750" y="2076450"/>
            <a:ext cx="523875" cy="409575"/>
          </a:xfrm>
          <a:prstGeom prst="rect">
            <a:avLst/>
          </a:prstGeom>
          <a:noFill/>
          <a:ln w="0">
            <a:noFill/>
          </a:ln>
        </p:spPr>
        <p:txBody>
          <a:bodyPr wrap="square" lIns="0" tIns="0" rIns="0" bIns="0" anchor="t">
            <a:noAutofit/>
          </a:bodyPr>
          <a:lstStyle/>
          <a:p>
            <a:pPr>
              <a:defRPr sz="1800" b="1">
                <a:solidFill>
                  <a:srgbClr val="0067A6"/>
                </a:solidFill>
                <a:latin typeface="Calibri"/>
                <a:ea typeface="Calibri"/>
                <a:cs typeface="Calibri"/>
              </a:defRPr>
            </a:pPr>
            <a:r>
              <a:rPr sz="2400" b="1">
                <a:solidFill>
                  <a:srgbClr val="0067A6"/>
                </a:solidFill>
                <a:latin typeface="Calibri"/>
                <a:ea typeface="Calibri"/>
                <a:cs typeface="Calibri"/>
              </a:rPr>
              <a:t>01</a:t>
            </a:r>
          </a:p>
        </p:txBody>
      </p:sp>
      <p:sp>
        <p:nvSpPr>
          <p:cNvPr id="13" name="Introduction and research problem">
            <a:extLst>
              <a:ext uri="{FF2B5EF4-FFF2-40B4-BE49-F238E27FC236}">
                <a16:creationId xmlns:a16="http://schemas.microsoft.com/office/drawing/2014/main" id="{89E2A764-74F1-4106-B3FA-B428FCBBF191}"/>
              </a:ext>
            </a:extLst>
          </p:cNvPr>
          <p:cNvSpPr>
            <a:spLocks noGrp="1"/>
          </p:cNvSpPr>
          <p:nvPr/>
        </p:nvSpPr>
        <p:spPr>
          <a:xfrm>
            <a:off x="1428750" y="2076450"/>
            <a:ext cx="9525000" cy="438150"/>
          </a:xfrm>
          <a:prstGeom prst="rect">
            <a:avLst/>
          </a:prstGeom>
          <a:noFill/>
          <a:ln w="0">
            <a:noFill/>
          </a:ln>
        </p:spPr>
        <p:txBody>
          <a:bodyPr wrap="square" lIns="0" tIns="0" rIns="0" bIns="0" anchor="t">
            <a:noAutofit/>
          </a:bodyPr>
          <a:lstStyle/>
          <a:p>
            <a:pPr>
              <a:defRPr sz="2050" b="0">
                <a:solidFill>
                  <a:srgbClr val="12263D"/>
                </a:solidFill>
                <a:latin typeface="Calibri"/>
                <a:ea typeface="Calibri"/>
                <a:cs typeface="Calibri"/>
              </a:defRPr>
            </a:pPr>
            <a:r>
              <a:rPr sz="2400" b="0" dirty="0">
                <a:solidFill>
                  <a:srgbClr val="12263D"/>
                </a:solidFill>
                <a:latin typeface="Calibri"/>
                <a:ea typeface="Calibri"/>
                <a:cs typeface="Calibri"/>
              </a:rPr>
              <a:t>Introduction and research problem</a:t>
            </a:r>
          </a:p>
        </p:txBody>
      </p:sp>
      <p:sp>
        <p:nvSpPr>
          <p:cNvPr id="14" name="02">
            <a:extLst>
              <a:ext uri="{FF2B5EF4-FFF2-40B4-BE49-F238E27FC236}">
                <a16:creationId xmlns:a16="http://schemas.microsoft.com/office/drawing/2014/main" id="{30952A16-688F-4A85-8317-BE984A0380D9}"/>
              </a:ext>
            </a:extLst>
          </p:cNvPr>
          <p:cNvSpPr>
            <a:spLocks noGrp="1"/>
          </p:cNvSpPr>
          <p:nvPr/>
        </p:nvSpPr>
        <p:spPr>
          <a:xfrm>
            <a:off x="666750" y="2809875"/>
            <a:ext cx="523875" cy="409575"/>
          </a:xfrm>
          <a:prstGeom prst="rect">
            <a:avLst/>
          </a:prstGeom>
          <a:noFill/>
          <a:ln w="0">
            <a:noFill/>
          </a:ln>
        </p:spPr>
        <p:txBody>
          <a:bodyPr wrap="square" lIns="0" tIns="0" rIns="0" bIns="0" anchor="t">
            <a:noAutofit/>
          </a:bodyPr>
          <a:lstStyle/>
          <a:p>
            <a:pPr>
              <a:defRPr sz="1800" b="1">
                <a:solidFill>
                  <a:srgbClr val="0067A6"/>
                </a:solidFill>
                <a:latin typeface="Calibri"/>
                <a:ea typeface="Calibri"/>
                <a:cs typeface="Calibri"/>
              </a:defRPr>
            </a:pPr>
            <a:r>
              <a:rPr sz="2400" b="1">
                <a:solidFill>
                  <a:srgbClr val="0067A6"/>
                </a:solidFill>
                <a:latin typeface="Calibri"/>
                <a:ea typeface="Calibri"/>
                <a:cs typeface="Calibri"/>
              </a:rPr>
              <a:t>02</a:t>
            </a:r>
          </a:p>
        </p:txBody>
      </p:sp>
      <p:sp>
        <p:nvSpPr>
          <p:cNvPr id="15" name="Related work and research gap">
            <a:extLst>
              <a:ext uri="{FF2B5EF4-FFF2-40B4-BE49-F238E27FC236}">
                <a16:creationId xmlns:a16="http://schemas.microsoft.com/office/drawing/2014/main" id="{F95A9428-9A3D-4E4B-AB9D-0D5640340404}"/>
              </a:ext>
            </a:extLst>
          </p:cNvPr>
          <p:cNvSpPr>
            <a:spLocks noGrp="1"/>
          </p:cNvSpPr>
          <p:nvPr/>
        </p:nvSpPr>
        <p:spPr>
          <a:xfrm>
            <a:off x="1428750" y="2809875"/>
            <a:ext cx="9525000" cy="438150"/>
          </a:xfrm>
          <a:prstGeom prst="rect">
            <a:avLst/>
          </a:prstGeom>
          <a:noFill/>
          <a:ln w="0">
            <a:noFill/>
          </a:ln>
        </p:spPr>
        <p:txBody>
          <a:bodyPr wrap="square" lIns="0" tIns="0" rIns="0" bIns="0" anchor="t">
            <a:noAutofit/>
          </a:bodyPr>
          <a:lstStyle/>
          <a:p>
            <a:pPr>
              <a:defRPr sz="2050" b="0">
                <a:solidFill>
                  <a:srgbClr val="12263D"/>
                </a:solidFill>
                <a:latin typeface="Calibri"/>
                <a:ea typeface="Calibri"/>
                <a:cs typeface="Calibri"/>
              </a:defRPr>
            </a:pPr>
            <a:r>
              <a:rPr sz="2400" b="0">
                <a:solidFill>
                  <a:srgbClr val="12263D"/>
                </a:solidFill>
                <a:latin typeface="Calibri"/>
                <a:ea typeface="Calibri"/>
                <a:cs typeface="Calibri"/>
              </a:rPr>
              <a:t>Related work and research gap</a:t>
            </a:r>
          </a:p>
        </p:txBody>
      </p:sp>
      <p:sp>
        <p:nvSpPr>
          <p:cNvPr id="16" name="03">
            <a:extLst>
              <a:ext uri="{FF2B5EF4-FFF2-40B4-BE49-F238E27FC236}">
                <a16:creationId xmlns:a16="http://schemas.microsoft.com/office/drawing/2014/main" id="{7CBDF035-FDA2-4033-AA3D-327C7A4883B4}"/>
              </a:ext>
            </a:extLst>
          </p:cNvPr>
          <p:cNvSpPr>
            <a:spLocks noGrp="1"/>
          </p:cNvSpPr>
          <p:nvPr/>
        </p:nvSpPr>
        <p:spPr>
          <a:xfrm>
            <a:off x="666750" y="3543300"/>
            <a:ext cx="523875" cy="409575"/>
          </a:xfrm>
          <a:prstGeom prst="rect">
            <a:avLst/>
          </a:prstGeom>
          <a:noFill/>
          <a:ln w="0">
            <a:noFill/>
          </a:ln>
        </p:spPr>
        <p:txBody>
          <a:bodyPr wrap="square" lIns="0" tIns="0" rIns="0" bIns="0" anchor="t">
            <a:noAutofit/>
          </a:bodyPr>
          <a:lstStyle/>
          <a:p>
            <a:pPr>
              <a:defRPr sz="1800" b="1">
                <a:solidFill>
                  <a:srgbClr val="0067A6"/>
                </a:solidFill>
                <a:latin typeface="Calibri"/>
                <a:ea typeface="Calibri"/>
                <a:cs typeface="Calibri"/>
              </a:defRPr>
            </a:pPr>
            <a:r>
              <a:rPr sz="2400" b="1">
                <a:solidFill>
                  <a:srgbClr val="0067A6"/>
                </a:solidFill>
                <a:latin typeface="Calibri"/>
                <a:ea typeface="Calibri"/>
                <a:cs typeface="Calibri"/>
              </a:rPr>
              <a:t>03</a:t>
            </a:r>
          </a:p>
        </p:txBody>
      </p:sp>
      <p:sp>
        <p:nvSpPr>
          <p:cNvPr id="17" name="Proposed solution and methodology">
            <a:extLst>
              <a:ext uri="{FF2B5EF4-FFF2-40B4-BE49-F238E27FC236}">
                <a16:creationId xmlns:a16="http://schemas.microsoft.com/office/drawing/2014/main" id="{85B4B574-DFD8-4293-9EF9-581564D21E1A}"/>
              </a:ext>
            </a:extLst>
          </p:cNvPr>
          <p:cNvSpPr>
            <a:spLocks noGrp="1"/>
          </p:cNvSpPr>
          <p:nvPr/>
        </p:nvSpPr>
        <p:spPr>
          <a:xfrm>
            <a:off x="1428750" y="3543300"/>
            <a:ext cx="9525000" cy="438150"/>
          </a:xfrm>
          <a:prstGeom prst="rect">
            <a:avLst/>
          </a:prstGeom>
          <a:noFill/>
          <a:ln w="0">
            <a:noFill/>
          </a:ln>
        </p:spPr>
        <p:txBody>
          <a:bodyPr wrap="square" lIns="0" tIns="0" rIns="0" bIns="0" anchor="t">
            <a:noAutofit/>
          </a:bodyPr>
          <a:lstStyle/>
          <a:p>
            <a:pPr>
              <a:defRPr sz="2050" b="0">
                <a:solidFill>
                  <a:srgbClr val="12263D"/>
                </a:solidFill>
                <a:latin typeface="Calibri"/>
                <a:ea typeface="Calibri"/>
                <a:cs typeface="Calibri"/>
              </a:defRPr>
            </a:pPr>
            <a:r>
              <a:rPr sz="2400" b="0" dirty="0">
                <a:solidFill>
                  <a:srgbClr val="12263D"/>
                </a:solidFill>
                <a:latin typeface="Calibri"/>
                <a:ea typeface="Calibri"/>
                <a:cs typeface="Calibri"/>
              </a:rPr>
              <a:t>Proposed solution and methodology</a:t>
            </a:r>
          </a:p>
        </p:txBody>
      </p:sp>
      <p:sp>
        <p:nvSpPr>
          <p:cNvPr id="18" name="04">
            <a:extLst>
              <a:ext uri="{FF2B5EF4-FFF2-40B4-BE49-F238E27FC236}">
                <a16:creationId xmlns:a16="http://schemas.microsoft.com/office/drawing/2014/main" id="{B82C6331-5D6E-4EA0-9A12-EAA1B97ED2E2}"/>
              </a:ext>
            </a:extLst>
          </p:cNvPr>
          <p:cNvSpPr>
            <a:spLocks noGrp="1"/>
          </p:cNvSpPr>
          <p:nvPr/>
        </p:nvSpPr>
        <p:spPr>
          <a:xfrm>
            <a:off x="666750" y="4276725"/>
            <a:ext cx="523875" cy="409575"/>
          </a:xfrm>
          <a:prstGeom prst="rect">
            <a:avLst/>
          </a:prstGeom>
          <a:noFill/>
          <a:ln w="0">
            <a:noFill/>
          </a:ln>
        </p:spPr>
        <p:txBody>
          <a:bodyPr wrap="square" lIns="0" tIns="0" rIns="0" bIns="0" anchor="t">
            <a:noAutofit/>
          </a:bodyPr>
          <a:lstStyle/>
          <a:p>
            <a:pPr>
              <a:defRPr sz="1800" b="1">
                <a:solidFill>
                  <a:srgbClr val="0067A6"/>
                </a:solidFill>
                <a:latin typeface="Calibri"/>
                <a:ea typeface="Calibri"/>
                <a:cs typeface="Calibri"/>
              </a:defRPr>
            </a:pPr>
            <a:r>
              <a:rPr sz="2400" b="1">
                <a:solidFill>
                  <a:srgbClr val="0067A6"/>
                </a:solidFill>
                <a:latin typeface="Calibri"/>
                <a:ea typeface="Calibri"/>
                <a:cs typeface="Calibri"/>
              </a:rPr>
              <a:t>04</a:t>
            </a:r>
          </a:p>
        </p:txBody>
      </p:sp>
      <p:sp>
        <p:nvSpPr>
          <p:cNvPr id="19" name="Experiments and results">
            <a:extLst>
              <a:ext uri="{FF2B5EF4-FFF2-40B4-BE49-F238E27FC236}">
                <a16:creationId xmlns:a16="http://schemas.microsoft.com/office/drawing/2014/main" id="{6E3B01A1-770D-419B-8490-57AEE6D94920}"/>
              </a:ext>
            </a:extLst>
          </p:cNvPr>
          <p:cNvSpPr>
            <a:spLocks noGrp="1"/>
          </p:cNvSpPr>
          <p:nvPr/>
        </p:nvSpPr>
        <p:spPr>
          <a:xfrm>
            <a:off x="1428750" y="4276725"/>
            <a:ext cx="9525000" cy="438150"/>
          </a:xfrm>
          <a:prstGeom prst="rect">
            <a:avLst/>
          </a:prstGeom>
          <a:noFill/>
          <a:ln w="0">
            <a:noFill/>
          </a:ln>
        </p:spPr>
        <p:txBody>
          <a:bodyPr wrap="square" lIns="0" tIns="0" rIns="0" bIns="0" anchor="t">
            <a:noAutofit/>
          </a:bodyPr>
          <a:lstStyle/>
          <a:p>
            <a:pPr>
              <a:defRPr sz="2050" b="0">
                <a:solidFill>
                  <a:srgbClr val="12263D"/>
                </a:solidFill>
                <a:latin typeface="Calibri"/>
                <a:ea typeface="Calibri"/>
                <a:cs typeface="Calibri"/>
              </a:defRPr>
            </a:pPr>
            <a:r>
              <a:rPr sz="2400" b="0">
                <a:solidFill>
                  <a:srgbClr val="12263D"/>
                </a:solidFill>
                <a:latin typeface="Calibri"/>
                <a:ea typeface="Calibri"/>
                <a:cs typeface="Calibri"/>
              </a:rPr>
              <a:t>Experiments and results</a:t>
            </a:r>
          </a:p>
        </p:txBody>
      </p:sp>
      <p:sp>
        <p:nvSpPr>
          <p:cNvPr id="20" name="05">
            <a:extLst>
              <a:ext uri="{FF2B5EF4-FFF2-40B4-BE49-F238E27FC236}">
                <a16:creationId xmlns:a16="http://schemas.microsoft.com/office/drawing/2014/main" id="{9A3A7759-96B0-4B7A-B1FB-C9ACEC6C55D9}"/>
              </a:ext>
            </a:extLst>
          </p:cNvPr>
          <p:cNvSpPr>
            <a:spLocks noGrp="1"/>
          </p:cNvSpPr>
          <p:nvPr/>
        </p:nvSpPr>
        <p:spPr>
          <a:xfrm>
            <a:off x="666750" y="5010150"/>
            <a:ext cx="523875" cy="409575"/>
          </a:xfrm>
          <a:prstGeom prst="rect">
            <a:avLst/>
          </a:prstGeom>
          <a:noFill/>
          <a:ln w="0">
            <a:noFill/>
          </a:ln>
        </p:spPr>
        <p:txBody>
          <a:bodyPr wrap="square" lIns="0" tIns="0" rIns="0" bIns="0" anchor="t">
            <a:noAutofit/>
          </a:bodyPr>
          <a:lstStyle/>
          <a:p>
            <a:pPr>
              <a:defRPr sz="1800" b="1">
                <a:solidFill>
                  <a:srgbClr val="0067A6"/>
                </a:solidFill>
                <a:latin typeface="Calibri"/>
                <a:ea typeface="Calibri"/>
                <a:cs typeface="Calibri"/>
              </a:defRPr>
            </a:pPr>
            <a:r>
              <a:rPr sz="2400" b="1">
                <a:solidFill>
                  <a:srgbClr val="0067A6"/>
                </a:solidFill>
                <a:latin typeface="Calibri"/>
                <a:ea typeface="Calibri"/>
                <a:cs typeface="Calibri"/>
              </a:rPr>
              <a:t>05</a:t>
            </a:r>
          </a:p>
        </p:txBody>
      </p:sp>
      <p:sp>
        <p:nvSpPr>
          <p:cNvPr id="21" name="Conclusion">
            <a:extLst>
              <a:ext uri="{FF2B5EF4-FFF2-40B4-BE49-F238E27FC236}">
                <a16:creationId xmlns:a16="http://schemas.microsoft.com/office/drawing/2014/main" id="{5AE01068-C1C0-463D-8C3E-8BED3BD25B0F}"/>
              </a:ext>
            </a:extLst>
          </p:cNvPr>
          <p:cNvSpPr>
            <a:spLocks noGrp="1"/>
          </p:cNvSpPr>
          <p:nvPr/>
        </p:nvSpPr>
        <p:spPr>
          <a:xfrm>
            <a:off x="1428750" y="5010150"/>
            <a:ext cx="9525000" cy="438150"/>
          </a:xfrm>
          <a:prstGeom prst="rect">
            <a:avLst/>
          </a:prstGeom>
          <a:noFill/>
          <a:ln w="0">
            <a:noFill/>
          </a:ln>
        </p:spPr>
        <p:txBody>
          <a:bodyPr wrap="square" lIns="0" tIns="0" rIns="0" bIns="0" anchor="t">
            <a:noAutofit/>
          </a:bodyPr>
          <a:lstStyle/>
          <a:p>
            <a:pPr>
              <a:defRPr sz="2050" b="0">
                <a:solidFill>
                  <a:srgbClr val="12263D"/>
                </a:solidFill>
                <a:latin typeface="Calibri"/>
                <a:ea typeface="Calibri"/>
                <a:cs typeface="Calibri"/>
              </a:defRPr>
            </a:pPr>
            <a:r>
              <a:rPr sz="2400" b="0">
                <a:solidFill>
                  <a:srgbClr val="12263D"/>
                </a:solidFill>
                <a:latin typeface="Calibri"/>
                <a:ea typeface="Calibri"/>
                <a:cs typeface="Calibri"/>
              </a:rPr>
              <a:t>Conclusion</a:t>
            </a:r>
          </a:p>
        </p:txBody>
      </p:sp>
      <p:pic>
        <p:nvPicPr>
          <p:cNvPr id="3" name="Picture 2" descr="image.png">
            <a:extLst>
              <a:ext uri="{FF2B5EF4-FFF2-40B4-BE49-F238E27FC236}">
                <a16:creationId xmlns:a16="http://schemas.microsoft.com/office/drawing/2014/main" id="{5DD9C5AC-9EFB-64A1-8EB4-81D892FCD5B0}"/>
              </a:ext>
            </a:extLst>
          </p:cNvPr>
          <p:cNvPicPr>
            <a:picLocks noChangeAspect="1"/>
          </p:cNvPicPr>
          <p:nvPr/>
        </p:nvPicPr>
        <p:blipFill>
          <a:blip r:embed="rId3"/>
          <a:stretch>
            <a:fillRect/>
          </a:stretch>
        </p:blipFill>
        <p:spPr>
          <a:xfrm>
            <a:off x="10950688" y="75407"/>
            <a:ext cx="1187224" cy="1163637"/>
          </a:xfrm>
          <a:prstGeom prst="rect">
            <a:avLst/>
          </a:prstGeom>
        </p:spPr>
      </p:pic>
    </p:spTree>
    <p:extLst>
      <p:ext uri="{BB962C8B-B14F-4D97-AF65-F5344CB8AC3E}">
        <p14:creationId xmlns:p14="http://schemas.microsoft.com/office/powerpoint/2010/main" val="1227196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Introduction and research problem">
            <a:extLst>
              <a:ext uri="{FF2B5EF4-FFF2-40B4-BE49-F238E27FC236}">
                <a16:creationId xmlns:a16="http://schemas.microsoft.com/office/drawing/2014/main" id="{1A8B73DC-7EE2-4FE1-A05D-4DF7CECAC541}"/>
              </a:ext>
            </a:extLst>
          </p:cNvPr>
          <p:cNvSpPr>
            <a:spLocks noGrp="1"/>
          </p:cNvSpPr>
          <p:nvPr/>
        </p:nvSpPr>
        <p:spPr>
          <a:xfrm>
            <a:off x="647700" y="1181100"/>
            <a:ext cx="10810875" cy="628650"/>
          </a:xfrm>
          <a:prstGeom prst="rect">
            <a:avLst/>
          </a:prstGeom>
          <a:noFill/>
          <a:ln w="0">
            <a:noFill/>
          </a:ln>
        </p:spPr>
        <p:txBody>
          <a:bodyPr wrap="square" lIns="0" tIns="0" rIns="0" bIns="0" anchor="t">
            <a:noAutofit/>
          </a:bodyPr>
          <a:lstStyle/>
          <a:p>
            <a:pPr>
              <a:defRPr sz="2900" b="1">
                <a:solidFill>
                  <a:srgbClr val="12263D"/>
                </a:solidFill>
                <a:latin typeface="Calibri"/>
                <a:ea typeface="Calibri"/>
                <a:cs typeface="Calibri"/>
              </a:defRPr>
            </a:pPr>
            <a:r>
              <a:rPr sz="3600" b="1" dirty="0">
                <a:solidFill>
                  <a:srgbClr val="12263D"/>
                </a:solidFill>
                <a:latin typeface="Calibri"/>
                <a:ea typeface="Calibri"/>
                <a:cs typeface="Calibri"/>
              </a:rPr>
              <a:t>Introduction and </a:t>
            </a:r>
            <a:r>
              <a:rPr lang="en-US" sz="3600" b="1" dirty="0">
                <a:solidFill>
                  <a:srgbClr val="12263D"/>
                </a:solidFill>
                <a:latin typeface="Calibri"/>
                <a:ea typeface="Calibri"/>
                <a:cs typeface="Calibri"/>
              </a:rPr>
              <a:t>R</a:t>
            </a:r>
            <a:r>
              <a:rPr sz="3600" b="1" dirty="0">
                <a:solidFill>
                  <a:srgbClr val="12263D"/>
                </a:solidFill>
                <a:latin typeface="Calibri"/>
                <a:ea typeface="Calibri"/>
                <a:cs typeface="Calibri"/>
              </a:rPr>
              <a:t>esearch </a:t>
            </a:r>
            <a:r>
              <a:rPr lang="en-US" sz="3600" b="1" dirty="0">
                <a:solidFill>
                  <a:srgbClr val="12263D"/>
                </a:solidFill>
                <a:latin typeface="Calibri"/>
                <a:ea typeface="Calibri"/>
                <a:cs typeface="Calibri"/>
              </a:rPr>
              <a:t>P</a:t>
            </a:r>
            <a:r>
              <a:rPr sz="3600" b="1" dirty="0">
                <a:solidFill>
                  <a:srgbClr val="12263D"/>
                </a:solidFill>
                <a:latin typeface="Calibri"/>
                <a:ea typeface="Calibri"/>
                <a:cs typeface="Calibri"/>
              </a:rPr>
              <a:t>roblem</a:t>
            </a:r>
          </a:p>
        </p:txBody>
      </p:sp>
      <p:sp>
        <p:nvSpPr>
          <p:cNvPr id="7" name="Straight Connector 6">
            <a:extLst>
              <a:ext uri="{FF2B5EF4-FFF2-40B4-BE49-F238E27FC236}">
                <a16:creationId xmlns:a16="http://schemas.microsoft.com/office/drawing/2014/main" id="{81ECF239-D48D-410B-A52F-DEB9E2BFC6A8}"/>
              </a:ext>
            </a:extLst>
          </p:cNvPr>
          <p:cNvSpPr>
            <a:spLocks noGrp="1"/>
          </p:cNvSpPr>
          <p:nvPr/>
        </p:nvSpPr>
        <p:spPr>
          <a:xfrm>
            <a:off x="647700" y="1933575"/>
            <a:ext cx="10896600" cy="0"/>
          </a:xfrm>
          <a:prstGeom prst="line">
            <a:avLst/>
          </a:prstGeom>
          <a:noFill/>
          <a:ln w="9525">
            <a:solidFill>
              <a:srgbClr val="D7E1E9"/>
            </a:solidFill>
          </a:ln>
        </p:spPr>
        <p:txBody>
          <a:bodyPr/>
          <a:lstStyle/>
          <a:p>
            <a:endParaRPr lang="en-GB" sz="2400"/>
          </a:p>
        </p:txBody>
      </p:sp>
      <p:sp>
        <p:nvSpPr>
          <p:cNvPr id="8" name="Straight Connector 7">
            <a:extLst>
              <a:ext uri="{FF2B5EF4-FFF2-40B4-BE49-F238E27FC236}">
                <a16:creationId xmlns:a16="http://schemas.microsoft.com/office/drawing/2014/main" id="{96F09B21-CE4B-4E33-A2C5-C86E8314DE8A}"/>
              </a:ext>
            </a:extLst>
          </p:cNvPr>
          <p:cNvSpPr>
            <a:spLocks noGrp="1"/>
          </p:cNvSpPr>
          <p:nvPr/>
        </p:nvSpPr>
        <p:spPr>
          <a:xfrm>
            <a:off x="647700" y="6238875"/>
            <a:ext cx="10896600" cy="0"/>
          </a:xfrm>
          <a:prstGeom prst="line">
            <a:avLst/>
          </a:prstGeom>
          <a:noFill/>
          <a:ln w="9525">
            <a:solidFill>
              <a:srgbClr val="D7E1E9"/>
            </a:solidFill>
          </a:ln>
        </p:spPr>
        <p:txBody>
          <a:bodyPr/>
          <a:lstStyle/>
          <a:p>
            <a:endParaRPr lang="en-GB" sz="2000"/>
          </a:p>
        </p:txBody>
      </p:sp>
      <p:sp>
        <p:nvSpPr>
          <p:cNvPr id="9" name="[Short paper title]">
            <a:extLst>
              <a:ext uri="{FF2B5EF4-FFF2-40B4-BE49-F238E27FC236}">
                <a16:creationId xmlns:a16="http://schemas.microsoft.com/office/drawing/2014/main" id="{AC01DA27-97CB-4E85-A266-50B9F551994E}"/>
              </a:ext>
            </a:extLst>
          </p:cNvPr>
          <p:cNvSpPr>
            <a:spLocks noGrp="1"/>
          </p:cNvSpPr>
          <p:nvPr/>
        </p:nvSpPr>
        <p:spPr>
          <a:xfrm>
            <a:off x="647700" y="6419850"/>
            <a:ext cx="6429375"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r>
              <a:rPr lang="en-US" sz="2000" dirty="0">
                <a:solidFill>
                  <a:srgbClr val="627185"/>
                </a:solidFill>
                <a:latin typeface="Calibri"/>
              </a:rPr>
              <a:t>6G Architecture &amp; Requirements</a:t>
            </a:r>
            <a:endParaRPr lang="en-US" sz="2000" dirty="0">
              <a:solidFill>
                <a:srgbClr val="627185"/>
              </a:solidFill>
              <a:latin typeface="Calibri"/>
              <a:ea typeface="Calibri"/>
              <a:cs typeface="Calibri"/>
            </a:endParaRPr>
          </a:p>
        </p:txBody>
      </p:sp>
      <p:sp>
        <p:nvSpPr>
          <p:cNvPr id="10" name="Paper ID: [000]">
            <a:extLst>
              <a:ext uri="{FF2B5EF4-FFF2-40B4-BE49-F238E27FC236}">
                <a16:creationId xmlns:a16="http://schemas.microsoft.com/office/drawing/2014/main" id="{3A24EE1B-730D-4675-A91C-739401556328}"/>
              </a:ext>
            </a:extLst>
          </p:cNvPr>
          <p:cNvSpPr>
            <a:spLocks noGrp="1"/>
          </p:cNvSpPr>
          <p:nvPr/>
        </p:nvSpPr>
        <p:spPr>
          <a:xfrm>
            <a:off x="8905875" y="6419850"/>
            <a:ext cx="2000250"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endParaRPr sz="2000" b="0" dirty="0">
              <a:solidFill>
                <a:srgbClr val="627185"/>
              </a:solidFill>
              <a:latin typeface="Calibri"/>
              <a:ea typeface="Calibri"/>
              <a:cs typeface="Calibri"/>
            </a:endParaRPr>
          </a:p>
        </p:txBody>
      </p:sp>
      <p:sp>
        <p:nvSpPr>
          <p:cNvPr id="11" name="03">
            <a:extLst>
              <a:ext uri="{FF2B5EF4-FFF2-40B4-BE49-F238E27FC236}">
                <a16:creationId xmlns:a16="http://schemas.microsoft.com/office/drawing/2014/main" id="{F045F568-456A-46C8-B72A-070149591EA1}"/>
              </a:ext>
            </a:extLst>
          </p:cNvPr>
          <p:cNvSpPr>
            <a:spLocks noGrp="1"/>
          </p:cNvSpPr>
          <p:nvPr/>
        </p:nvSpPr>
        <p:spPr>
          <a:xfrm>
            <a:off x="11125200" y="6419850"/>
            <a:ext cx="419100" cy="219075"/>
          </a:xfrm>
          <a:prstGeom prst="rect">
            <a:avLst/>
          </a:prstGeom>
          <a:noFill/>
          <a:ln w="0">
            <a:noFill/>
          </a:ln>
        </p:spPr>
        <p:txBody>
          <a:bodyPr wrap="square" lIns="0" tIns="0" rIns="0" bIns="0" anchor="t">
            <a:noAutofit/>
          </a:bodyPr>
          <a:lstStyle/>
          <a:p>
            <a:pPr>
              <a:defRPr sz="1000" b="1">
                <a:solidFill>
                  <a:srgbClr val="0067A6"/>
                </a:solidFill>
                <a:latin typeface="Calibri"/>
                <a:ea typeface="Calibri"/>
                <a:cs typeface="Calibri"/>
              </a:defRPr>
            </a:pPr>
            <a:r>
              <a:rPr sz="2000" b="1">
                <a:solidFill>
                  <a:srgbClr val="0067A6"/>
                </a:solidFill>
                <a:latin typeface="Calibri"/>
                <a:ea typeface="Calibri"/>
                <a:cs typeface="Calibri"/>
              </a:rPr>
              <a:t>03</a:t>
            </a:r>
          </a:p>
        </p:txBody>
      </p:sp>
      <p:sp>
        <p:nvSpPr>
          <p:cNvPr id="12" name="[One sentence stating the problem]">
            <a:extLst>
              <a:ext uri="{FF2B5EF4-FFF2-40B4-BE49-F238E27FC236}">
                <a16:creationId xmlns:a16="http://schemas.microsoft.com/office/drawing/2014/main" id="{3BE9DD11-4623-4151-86F5-452711B5374C}"/>
              </a:ext>
            </a:extLst>
          </p:cNvPr>
          <p:cNvSpPr>
            <a:spLocks noGrp="1"/>
          </p:cNvSpPr>
          <p:nvPr/>
        </p:nvSpPr>
        <p:spPr>
          <a:xfrm>
            <a:off x="666750" y="2114550"/>
            <a:ext cx="10477500" cy="914400"/>
          </a:xfrm>
          <a:prstGeom prst="rect">
            <a:avLst/>
          </a:prstGeom>
          <a:noFill/>
          <a:ln w="0">
            <a:noFill/>
          </a:ln>
        </p:spPr>
        <p:txBody>
          <a:bodyPr wrap="square" lIns="0" tIns="0" rIns="0" bIns="0" anchor="t">
            <a:noAutofit/>
          </a:bodyPr>
          <a:lstStyle/>
          <a:p>
            <a:pPr algn="just">
              <a:defRPr sz="2350" b="1">
                <a:solidFill>
                  <a:srgbClr val="0067A6"/>
                </a:solidFill>
                <a:latin typeface="Calibri"/>
                <a:ea typeface="Calibri"/>
                <a:cs typeface="Calibri"/>
              </a:defRPr>
            </a:pPr>
            <a:r>
              <a:rPr lang="en-US" sz="2350" b="1" dirty="0">
                <a:solidFill>
                  <a:srgbClr val="0067A6"/>
                </a:solidFill>
                <a:latin typeface="Calibri"/>
              </a:rPr>
              <a:t>5G networks may not meet the future needs for very high data rates, low latency, and global connectivity.</a:t>
            </a:r>
          </a:p>
          <a:p>
            <a:pPr algn="just">
              <a:defRPr sz="2350" b="1">
                <a:solidFill>
                  <a:srgbClr val="0067A6"/>
                </a:solidFill>
                <a:latin typeface="Calibri"/>
                <a:ea typeface="Calibri"/>
                <a:cs typeface="Calibri"/>
              </a:defRPr>
            </a:pPr>
            <a:endParaRPr lang="en-US" sz="2350" b="1" dirty="0">
              <a:solidFill>
                <a:srgbClr val="0067A6"/>
              </a:solidFill>
              <a:latin typeface="Calibri"/>
            </a:endParaRPr>
          </a:p>
          <a:p>
            <a:pPr algn="just">
              <a:defRPr sz="2350" b="1">
                <a:solidFill>
                  <a:srgbClr val="0067A6"/>
                </a:solidFill>
                <a:latin typeface="Calibri"/>
                <a:ea typeface="Calibri"/>
                <a:cs typeface="Calibri"/>
              </a:defRPr>
            </a:pPr>
            <a:endParaRPr sz="2400" b="1" dirty="0">
              <a:solidFill>
                <a:srgbClr val="0067A6"/>
              </a:solidFill>
              <a:latin typeface="Calibri"/>
              <a:ea typeface="Calibri"/>
              <a:cs typeface="Calibri"/>
            </a:endParaRPr>
          </a:p>
        </p:txBody>
      </p:sp>
      <p:sp>
        <p:nvSpPr>
          <p:cNvPr id="13" name="01">
            <a:extLst>
              <a:ext uri="{FF2B5EF4-FFF2-40B4-BE49-F238E27FC236}">
                <a16:creationId xmlns:a16="http://schemas.microsoft.com/office/drawing/2014/main" id="{2C117B3A-7C19-425E-8A1F-DFFD6C43A661}"/>
              </a:ext>
            </a:extLst>
          </p:cNvPr>
          <p:cNvSpPr>
            <a:spLocks noGrp="1"/>
          </p:cNvSpPr>
          <p:nvPr/>
        </p:nvSpPr>
        <p:spPr>
          <a:xfrm>
            <a:off x="666750" y="3257550"/>
            <a:ext cx="476250" cy="361950"/>
          </a:xfrm>
          <a:prstGeom prst="rect">
            <a:avLst/>
          </a:prstGeom>
          <a:noFill/>
          <a:ln w="0">
            <a:noFill/>
          </a:ln>
        </p:spPr>
        <p:txBody>
          <a:bodyPr wrap="square" lIns="0" tIns="0" rIns="0" bIns="0" anchor="t">
            <a:noAutofit/>
          </a:bodyPr>
          <a:lstStyle/>
          <a:p>
            <a:pPr>
              <a:defRPr sz="1600" b="1">
                <a:solidFill>
                  <a:srgbClr val="0067A6"/>
                </a:solidFill>
                <a:latin typeface="Calibri"/>
                <a:ea typeface="Calibri"/>
                <a:cs typeface="Calibri"/>
              </a:defRPr>
            </a:pPr>
            <a:r>
              <a:rPr sz="2400" b="1">
                <a:solidFill>
                  <a:srgbClr val="0067A6"/>
                </a:solidFill>
                <a:latin typeface="Calibri"/>
                <a:ea typeface="Calibri"/>
                <a:cs typeface="Calibri"/>
              </a:rPr>
              <a:t>01</a:t>
            </a:r>
          </a:p>
        </p:txBody>
      </p:sp>
      <p:sp>
        <p:nvSpPr>
          <p:cNvPr id="14" name="[Why this problem matters]">
            <a:extLst>
              <a:ext uri="{FF2B5EF4-FFF2-40B4-BE49-F238E27FC236}">
                <a16:creationId xmlns:a16="http://schemas.microsoft.com/office/drawing/2014/main" id="{6BBF654E-0489-4DD8-9ABB-80953457FDA6}"/>
              </a:ext>
            </a:extLst>
          </p:cNvPr>
          <p:cNvSpPr>
            <a:spLocks noGrp="1"/>
          </p:cNvSpPr>
          <p:nvPr/>
        </p:nvSpPr>
        <p:spPr>
          <a:xfrm>
            <a:off x="1371600" y="3257550"/>
            <a:ext cx="9867900" cy="742950"/>
          </a:xfrm>
          <a:prstGeom prst="rect">
            <a:avLst/>
          </a:prstGeom>
          <a:noFill/>
          <a:ln w="0">
            <a:noFill/>
          </a:ln>
        </p:spPr>
        <p:txBody>
          <a:bodyPr wrap="square" lIns="0" tIns="0" rIns="0" bIns="0" anchor="t">
            <a:noAutofit/>
          </a:bodyPr>
          <a:lstStyle/>
          <a:p>
            <a:r>
              <a:rPr lang="en-US" sz="2400" dirty="0"/>
              <a:t>Future applications like holographic communication, smart vehicles, and flying robots need faster and more reliable networks.</a:t>
            </a:r>
          </a:p>
        </p:txBody>
      </p:sp>
      <p:sp>
        <p:nvSpPr>
          <p:cNvPr id="15" name="02">
            <a:extLst>
              <a:ext uri="{FF2B5EF4-FFF2-40B4-BE49-F238E27FC236}">
                <a16:creationId xmlns:a16="http://schemas.microsoft.com/office/drawing/2014/main" id="{DCC6E290-5512-4ED7-9F8C-A5C8A0E4CA4E}"/>
              </a:ext>
            </a:extLst>
          </p:cNvPr>
          <p:cNvSpPr>
            <a:spLocks noGrp="1"/>
          </p:cNvSpPr>
          <p:nvPr/>
        </p:nvSpPr>
        <p:spPr>
          <a:xfrm>
            <a:off x="666750" y="4171950"/>
            <a:ext cx="476250" cy="361950"/>
          </a:xfrm>
          <a:prstGeom prst="rect">
            <a:avLst/>
          </a:prstGeom>
          <a:noFill/>
          <a:ln w="0">
            <a:noFill/>
          </a:ln>
        </p:spPr>
        <p:txBody>
          <a:bodyPr wrap="square" lIns="0" tIns="0" rIns="0" bIns="0" anchor="t">
            <a:noAutofit/>
          </a:bodyPr>
          <a:lstStyle/>
          <a:p>
            <a:pPr>
              <a:defRPr sz="1600" b="1">
                <a:solidFill>
                  <a:srgbClr val="0067A6"/>
                </a:solidFill>
                <a:latin typeface="Calibri"/>
                <a:ea typeface="Calibri"/>
                <a:cs typeface="Calibri"/>
              </a:defRPr>
            </a:pPr>
            <a:r>
              <a:rPr sz="2400" b="1">
                <a:solidFill>
                  <a:srgbClr val="0067A6"/>
                </a:solidFill>
                <a:latin typeface="Calibri"/>
                <a:ea typeface="Calibri"/>
                <a:cs typeface="Calibri"/>
              </a:rPr>
              <a:t>02</a:t>
            </a:r>
          </a:p>
        </p:txBody>
      </p:sp>
      <p:sp>
        <p:nvSpPr>
          <p:cNvPr id="16" name="[What current approaches leave unresolved]">
            <a:extLst>
              <a:ext uri="{FF2B5EF4-FFF2-40B4-BE49-F238E27FC236}">
                <a16:creationId xmlns:a16="http://schemas.microsoft.com/office/drawing/2014/main" id="{045FA6C5-696F-43E3-B9BB-1769B7FD4144}"/>
              </a:ext>
            </a:extLst>
          </p:cNvPr>
          <p:cNvSpPr>
            <a:spLocks noGrp="1"/>
          </p:cNvSpPr>
          <p:nvPr/>
        </p:nvSpPr>
        <p:spPr>
          <a:xfrm>
            <a:off x="1371600" y="4171950"/>
            <a:ext cx="9867900" cy="742950"/>
          </a:xfrm>
          <a:prstGeom prst="rect">
            <a:avLst/>
          </a:prstGeom>
          <a:noFill/>
          <a:ln w="0">
            <a:noFill/>
          </a:ln>
        </p:spPr>
        <p:txBody>
          <a:bodyPr wrap="square" lIns="0" tIns="0" rIns="0" bIns="0" anchor="t">
            <a:noAutofit/>
          </a:bodyPr>
          <a:lstStyle/>
          <a:p>
            <a:r>
              <a:rPr lang="en-US" sz="2400" dirty="0"/>
              <a:t>Traditional networks face coverage problems, signal loss at high frequencies, and difficulties supporting many connected devices.</a:t>
            </a:r>
          </a:p>
        </p:txBody>
      </p:sp>
      <p:sp>
        <p:nvSpPr>
          <p:cNvPr id="17" name="03">
            <a:extLst>
              <a:ext uri="{FF2B5EF4-FFF2-40B4-BE49-F238E27FC236}">
                <a16:creationId xmlns:a16="http://schemas.microsoft.com/office/drawing/2014/main" id="{A490AF51-4CB0-4BD7-8757-142E737F3E62}"/>
              </a:ext>
            </a:extLst>
          </p:cNvPr>
          <p:cNvSpPr>
            <a:spLocks noGrp="1"/>
          </p:cNvSpPr>
          <p:nvPr/>
        </p:nvSpPr>
        <p:spPr>
          <a:xfrm>
            <a:off x="666750" y="5086350"/>
            <a:ext cx="476250" cy="361950"/>
          </a:xfrm>
          <a:prstGeom prst="rect">
            <a:avLst/>
          </a:prstGeom>
          <a:noFill/>
          <a:ln w="0">
            <a:noFill/>
          </a:ln>
        </p:spPr>
        <p:txBody>
          <a:bodyPr wrap="square" lIns="0" tIns="0" rIns="0" bIns="0" anchor="t">
            <a:noAutofit/>
          </a:bodyPr>
          <a:lstStyle/>
          <a:p>
            <a:pPr>
              <a:defRPr sz="1600" b="1">
                <a:solidFill>
                  <a:srgbClr val="0067A6"/>
                </a:solidFill>
                <a:latin typeface="Calibri"/>
                <a:ea typeface="Calibri"/>
                <a:cs typeface="Calibri"/>
              </a:defRPr>
            </a:pPr>
            <a:r>
              <a:rPr sz="2400" b="1" dirty="0">
                <a:solidFill>
                  <a:srgbClr val="0067A6"/>
                </a:solidFill>
                <a:latin typeface="Calibri"/>
                <a:ea typeface="Calibri"/>
                <a:cs typeface="Calibri"/>
              </a:rPr>
              <a:t>03</a:t>
            </a:r>
          </a:p>
        </p:txBody>
      </p:sp>
      <p:sp>
        <p:nvSpPr>
          <p:cNvPr id="18" name="[Research question or objective]">
            <a:extLst>
              <a:ext uri="{FF2B5EF4-FFF2-40B4-BE49-F238E27FC236}">
                <a16:creationId xmlns:a16="http://schemas.microsoft.com/office/drawing/2014/main" id="{CF9BF64E-50AB-4650-9684-50B84FFC7E64}"/>
              </a:ext>
            </a:extLst>
          </p:cNvPr>
          <p:cNvSpPr>
            <a:spLocks noGrp="1"/>
          </p:cNvSpPr>
          <p:nvPr/>
        </p:nvSpPr>
        <p:spPr>
          <a:xfrm>
            <a:off x="1371600" y="5086350"/>
            <a:ext cx="9867900" cy="742950"/>
          </a:xfrm>
          <a:prstGeom prst="rect">
            <a:avLst/>
          </a:prstGeom>
          <a:noFill/>
          <a:ln w="0">
            <a:noFill/>
          </a:ln>
        </p:spPr>
        <p:txBody>
          <a:bodyPr wrap="square" lIns="0" tIns="0" rIns="0" bIns="0" anchor="t">
            <a:noAutofit/>
          </a:bodyPr>
          <a:lstStyle/>
          <a:p>
            <a:r>
              <a:rPr lang="en-US" sz="2400" dirty="0"/>
              <a:t>To analyze a 3D Space-Air-Ground 6G architecture and evaluate its performance against current 5G networks.</a:t>
            </a:r>
          </a:p>
        </p:txBody>
      </p:sp>
      <p:pic>
        <p:nvPicPr>
          <p:cNvPr id="3" name="Picture 2" descr="image.png">
            <a:extLst>
              <a:ext uri="{FF2B5EF4-FFF2-40B4-BE49-F238E27FC236}">
                <a16:creationId xmlns:a16="http://schemas.microsoft.com/office/drawing/2014/main" id="{FE6EEFCB-9FD8-6DFE-8C69-1D667415F0D4}"/>
              </a:ext>
            </a:extLst>
          </p:cNvPr>
          <p:cNvPicPr>
            <a:picLocks noChangeAspect="1"/>
          </p:cNvPicPr>
          <p:nvPr/>
        </p:nvPicPr>
        <p:blipFill>
          <a:blip r:embed="rId3"/>
          <a:stretch>
            <a:fillRect/>
          </a:stretch>
        </p:blipFill>
        <p:spPr>
          <a:xfrm>
            <a:off x="10950688" y="75407"/>
            <a:ext cx="1187224" cy="1163637"/>
          </a:xfrm>
          <a:prstGeom prst="rect">
            <a:avLst/>
          </a:prstGeom>
        </p:spPr>
      </p:pic>
    </p:spTree>
    <p:extLst>
      <p:ext uri="{BB962C8B-B14F-4D97-AF65-F5344CB8AC3E}">
        <p14:creationId xmlns:p14="http://schemas.microsoft.com/office/powerpoint/2010/main" val="3261465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lated work and research gap">
            <a:extLst>
              <a:ext uri="{FF2B5EF4-FFF2-40B4-BE49-F238E27FC236}">
                <a16:creationId xmlns:a16="http://schemas.microsoft.com/office/drawing/2014/main" id="{57D82E18-8D40-41E5-9CA4-A91C27DFE850}"/>
              </a:ext>
            </a:extLst>
          </p:cNvPr>
          <p:cNvSpPr>
            <a:spLocks noGrp="1"/>
          </p:cNvSpPr>
          <p:nvPr/>
        </p:nvSpPr>
        <p:spPr>
          <a:xfrm>
            <a:off x="647700" y="981077"/>
            <a:ext cx="10810875" cy="628650"/>
          </a:xfrm>
          <a:prstGeom prst="rect">
            <a:avLst/>
          </a:prstGeom>
          <a:noFill/>
          <a:ln w="0">
            <a:noFill/>
          </a:ln>
        </p:spPr>
        <p:txBody>
          <a:bodyPr wrap="square" lIns="0" tIns="0" rIns="0" bIns="0" anchor="t">
            <a:noAutofit/>
          </a:bodyPr>
          <a:lstStyle/>
          <a:p>
            <a:pPr>
              <a:defRPr sz="2900" b="1">
                <a:solidFill>
                  <a:srgbClr val="12263D"/>
                </a:solidFill>
                <a:latin typeface="Calibri"/>
                <a:ea typeface="Calibri"/>
                <a:cs typeface="Calibri"/>
              </a:defRPr>
            </a:pPr>
            <a:r>
              <a:rPr sz="3600" b="1" dirty="0">
                <a:solidFill>
                  <a:srgbClr val="12263D"/>
                </a:solidFill>
                <a:latin typeface="Calibri"/>
                <a:ea typeface="Calibri"/>
                <a:cs typeface="Calibri"/>
              </a:rPr>
              <a:t>Related </a:t>
            </a:r>
            <a:r>
              <a:rPr lang="en-US" sz="3600" b="1" dirty="0">
                <a:solidFill>
                  <a:srgbClr val="12263D"/>
                </a:solidFill>
                <a:latin typeface="Calibri"/>
                <a:ea typeface="Calibri"/>
                <a:cs typeface="Calibri"/>
              </a:rPr>
              <a:t>W</a:t>
            </a:r>
            <a:r>
              <a:rPr sz="3600" b="1" dirty="0">
                <a:solidFill>
                  <a:srgbClr val="12263D"/>
                </a:solidFill>
                <a:latin typeface="Calibri"/>
                <a:ea typeface="Calibri"/>
                <a:cs typeface="Calibri"/>
              </a:rPr>
              <a:t>ork and </a:t>
            </a:r>
            <a:r>
              <a:rPr lang="en-US" sz="3600" b="1" dirty="0">
                <a:solidFill>
                  <a:srgbClr val="12263D"/>
                </a:solidFill>
                <a:latin typeface="Calibri"/>
                <a:ea typeface="Calibri"/>
                <a:cs typeface="Calibri"/>
              </a:rPr>
              <a:t>R</a:t>
            </a:r>
            <a:r>
              <a:rPr sz="3600" b="1" dirty="0">
                <a:solidFill>
                  <a:srgbClr val="12263D"/>
                </a:solidFill>
                <a:latin typeface="Calibri"/>
                <a:ea typeface="Calibri"/>
                <a:cs typeface="Calibri"/>
              </a:rPr>
              <a:t>esearch </a:t>
            </a:r>
            <a:r>
              <a:rPr lang="en-US" sz="3600" b="1" dirty="0">
                <a:solidFill>
                  <a:srgbClr val="12263D"/>
                </a:solidFill>
                <a:latin typeface="Calibri"/>
                <a:ea typeface="Calibri"/>
                <a:cs typeface="Calibri"/>
              </a:rPr>
              <a:t>G</a:t>
            </a:r>
            <a:r>
              <a:rPr sz="3600" b="1" dirty="0">
                <a:solidFill>
                  <a:srgbClr val="12263D"/>
                </a:solidFill>
                <a:latin typeface="Calibri"/>
                <a:ea typeface="Calibri"/>
                <a:cs typeface="Calibri"/>
              </a:rPr>
              <a:t>ap</a:t>
            </a:r>
          </a:p>
        </p:txBody>
      </p:sp>
      <p:sp>
        <p:nvSpPr>
          <p:cNvPr id="7" name="Straight Connector 6">
            <a:extLst>
              <a:ext uri="{FF2B5EF4-FFF2-40B4-BE49-F238E27FC236}">
                <a16:creationId xmlns:a16="http://schemas.microsoft.com/office/drawing/2014/main" id="{BF660B27-9A11-445F-9A8D-5581E907753D}"/>
              </a:ext>
            </a:extLst>
          </p:cNvPr>
          <p:cNvSpPr>
            <a:spLocks noGrp="1"/>
          </p:cNvSpPr>
          <p:nvPr/>
        </p:nvSpPr>
        <p:spPr>
          <a:xfrm>
            <a:off x="647700" y="1933575"/>
            <a:ext cx="10896600" cy="0"/>
          </a:xfrm>
          <a:prstGeom prst="line">
            <a:avLst/>
          </a:prstGeom>
          <a:noFill/>
          <a:ln w="9525">
            <a:solidFill>
              <a:srgbClr val="D7E1E9"/>
            </a:solidFill>
          </a:ln>
        </p:spPr>
        <p:txBody>
          <a:bodyPr/>
          <a:lstStyle/>
          <a:p>
            <a:endParaRPr lang="en-GB" sz="2400"/>
          </a:p>
        </p:txBody>
      </p:sp>
      <p:sp>
        <p:nvSpPr>
          <p:cNvPr id="8" name="Straight Connector 7">
            <a:extLst>
              <a:ext uri="{FF2B5EF4-FFF2-40B4-BE49-F238E27FC236}">
                <a16:creationId xmlns:a16="http://schemas.microsoft.com/office/drawing/2014/main" id="{F8F6BD15-7050-403B-99AD-AC4B36B67C68}"/>
              </a:ext>
            </a:extLst>
          </p:cNvPr>
          <p:cNvSpPr>
            <a:spLocks noGrp="1"/>
          </p:cNvSpPr>
          <p:nvPr/>
        </p:nvSpPr>
        <p:spPr>
          <a:xfrm>
            <a:off x="647700" y="6336846"/>
            <a:ext cx="10896600" cy="0"/>
          </a:xfrm>
          <a:prstGeom prst="line">
            <a:avLst/>
          </a:prstGeom>
          <a:noFill/>
          <a:ln w="9525">
            <a:solidFill>
              <a:srgbClr val="D7E1E9"/>
            </a:solidFill>
          </a:ln>
        </p:spPr>
        <p:txBody>
          <a:bodyPr/>
          <a:lstStyle/>
          <a:p>
            <a:endParaRPr lang="en-GB" sz="2000" dirty="0"/>
          </a:p>
        </p:txBody>
      </p:sp>
      <p:sp>
        <p:nvSpPr>
          <p:cNvPr id="9" name="[Short paper title]">
            <a:extLst>
              <a:ext uri="{FF2B5EF4-FFF2-40B4-BE49-F238E27FC236}">
                <a16:creationId xmlns:a16="http://schemas.microsoft.com/office/drawing/2014/main" id="{B65C4C53-804D-469A-B6B0-D12525136FD0}"/>
              </a:ext>
            </a:extLst>
          </p:cNvPr>
          <p:cNvSpPr>
            <a:spLocks noGrp="1"/>
          </p:cNvSpPr>
          <p:nvPr/>
        </p:nvSpPr>
        <p:spPr>
          <a:xfrm>
            <a:off x="647700" y="6418489"/>
            <a:ext cx="6429375"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r>
              <a:rPr lang="en-US" sz="2000" dirty="0">
                <a:solidFill>
                  <a:srgbClr val="627185"/>
                </a:solidFill>
                <a:latin typeface="Calibri"/>
              </a:rPr>
              <a:t>6G Architecture &amp; Requirements</a:t>
            </a:r>
            <a:endParaRPr lang="en-US" sz="2000" dirty="0">
              <a:solidFill>
                <a:srgbClr val="627185"/>
              </a:solidFill>
              <a:latin typeface="Calibri"/>
              <a:ea typeface="Calibri"/>
              <a:cs typeface="Calibri"/>
            </a:endParaRPr>
          </a:p>
        </p:txBody>
      </p:sp>
      <p:sp>
        <p:nvSpPr>
          <p:cNvPr id="10" name="Paper ID: [000]">
            <a:extLst>
              <a:ext uri="{FF2B5EF4-FFF2-40B4-BE49-F238E27FC236}">
                <a16:creationId xmlns:a16="http://schemas.microsoft.com/office/drawing/2014/main" id="{B5CF3899-A4C8-4D0E-8EF1-DB96B3DAE0BE}"/>
              </a:ext>
            </a:extLst>
          </p:cNvPr>
          <p:cNvSpPr>
            <a:spLocks noGrp="1"/>
          </p:cNvSpPr>
          <p:nvPr/>
        </p:nvSpPr>
        <p:spPr>
          <a:xfrm>
            <a:off x="8905875" y="6419850"/>
            <a:ext cx="2000250"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endParaRPr sz="2000" b="0" dirty="0">
              <a:solidFill>
                <a:srgbClr val="627185"/>
              </a:solidFill>
              <a:latin typeface="Calibri"/>
              <a:ea typeface="Calibri"/>
              <a:cs typeface="Calibri"/>
            </a:endParaRPr>
          </a:p>
        </p:txBody>
      </p:sp>
      <p:sp>
        <p:nvSpPr>
          <p:cNvPr id="11" name="04">
            <a:extLst>
              <a:ext uri="{FF2B5EF4-FFF2-40B4-BE49-F238E27FC236}">
                <a16:creationId xmlns:a16="http://schemas.microsoft.com/office/drawing/2014/main" id="{1B9397B8-4339-4F58-BA93-B67E2C53ABB3}"/>
              </a:ext>
            </a:extLst>
          </p:cNvPr>
          <p:cNvSpPr>
            <a:spLocks noGrp="1"/>
          </p:cNvSpPr>
          <p:nvPr/>
        </p:nvSpPr>
        <p:spPr>
          <a:xfrm>
            <a:off x="11125200" y="6419850"/>
            <a:ext cx="419100" cy="219075"/>
          </a:xfrm>
          <a:prstGeom prst="rect">
            <a:avLst/>
          </a:prstGeom>
          <a:noFill/>
          <a:ln w="0">
            <a:noFill/>
          </a:ln>
        </p:spPr>
        <p:txBody>
          <a:bodyPr wrap="square" lIns="0" tIns="0" rIns="0" bIns="0" anchor="t">
            <a:noAutofit/>
          </a:bodyPr>
          <a:lstStyle/>
          <a:p>
            <a:pPr>
              <a:defRPr sz="1000" b="1">
                <a:solidFill>
                  <a:srgbClr val="0067A6"/>
                </a:solidFill>
                <a:latin typeface="Calibri"/>
                <a:ea typeface="Calibri"/>
                <a:cs typeface="Calibri"/>
              </a:defRPr>
            </a:pPr>
            <a:r>
              <a:rPr sz="2000" b="1">
                <a:solidFill>
                  <a:srgbClr val="0067A6"/>
                </a:solidFill>
                <a:latin typeface="Calibri"/>
                <a:ea typeface="Calibri"/>
                <a:cs typeface="Calibri"/>
              </a:rPr>
              <a:t>04</a:t>
            </a:r>
          </a:p>
        </p:txBody>
      </p:sp>
      <p:graphicFrame>
        <p:nvGraphicFramePr>
          <p:cNvPr id="26" name="Table 25"/>
          <p:cNvGraphicFramePr/>
          <p:nvPr>
            <p:extLst>
              <p:ext uri="{D42A27DB-BD31-4B8C-83A1-F6EECF244321}">
                <p14:modId xmlns:p14="http://schemas.microsoft.com/office/powerpoint/2010/main" val="3473624220"/>
              </p:ext>
            </p:extLst>
          </p:nvPr>
        </p:nvGraphicFramePr>
        <p:xfrm>
          <a:off x="666750" y="2133600"/>
          <a:ext cx="10820400" cy="3098483"/>
        </p:xfrm>
        <a:graphic>
          <a:graphicData uri="http://schemas.openxmlformats.org/drawingml/2006/table">
            <a:tbl>
              <a:tblPr/>
              <a:tblGrid>
                <a:gridCol w="26670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152900">
                  <a:extLst>
                    <a:ext uri="{9D8B030D-6E8A-4147-A177-3AD203B41FA5}">
                      <a16:colId xmlns:a16="http://schemas.microsoft.com/office/drawing/2014/main" val="20002"/>
                    </a:ext>
                  </a:extLst>
                </a:gridCol>
              </a:tblGrid>
              <a:tr h="690563">
                <a:tc>
                  <a:txBody>
                    <a:bodyPr/>
                    <a:lstStyle/>
                    <a:p>
                      <a:r>
                        <a:rPr sz="2000" b="1" dirty="0">
                          <a:solidFill>
                            <a:srgbClr val="FFFFFF"/>
                          </a:solidFill>
                          <a:latin typeface="Calibri"/>
                          <a:ea typeface="Calibri"/>
                          <a:cs typeface="Calibri"/>
                        </a:rPr>
                        <a:t>Study / approach</a:t>
                      </a:r>
                    </a:p>
                  </a:txBody>
                  <a:tcPr anchor="ctr">
                    <a:solidFill>
                      <a:srgbClr val="0067A6"/>
                    </a:solidFill>
                  </a:tcPr>
                </a:tc>
                <a:tc>
                  <a:txBody>
                    <a:bodyPr/>
                    <a:lstStyle/>
                    <a:p>
                      <a:r>
                        <a:rPr sz="2000" b="1" dirty="0">
                          <a:solidFill>
                            <a:srgbClr val="FFFFFF"/>
                          </a:solidFill>
                          <a:latin typeface="Calibri"/>
                          <a:ea typeface="Calibri"/>
                          <a:cs typeface="Calibri"/>
                        </a:rPr>
                        <a:t>Key idea</a:t>
                      </a:r>
                    </a:p>
                  </a:txBody>
                  <a:tcPr anchor="ctr">
                    <a:solidFill>
                      <a:srgbClr val="0067A6"/>
                    </a:solidFill>
                  </a:tcPr>
                </a:tc>
                <a:tc>
                  <a:txBody>
                    <a:bodyPr/>
                    <a:lstStyle/>
                    <a:p>
                      <a:r>
                        <a:rPr sz="2000" b="1" dirty="0">
                          <a:solidFill>
                            <a:srgbClr val="FFFFFF"/>
                          </a:solidFill>
                          <a:latin typeface="Calibri"/>
                          <a:ea typeface="Calibri"/>
                          <a:cs typeface="Calibri"/>
                        </a:rPr>
                        <a:t>Relevant limitation</a:t>
                      </a:r>
                    </a:p>
                  </a:txBody>
                  <a:tcPr anchor="ctr">
                    <a:solidFill>
                      <a:srgbClr val="0067A6"/>
                    </a:solidFill>
                  </a:tcPr>
                </a:tc>
                <a:extLst>
                  <a:ext uri="{0D108BD9-81ED-4DB2-BD59-A6C34878D82A}">
                    <a16:rowId xmlns:a16="http://schemas.microsoft.com/office/drawing/2014/main" val="10000"/>
                  </a:ext>
                </a:extLst>
              </a:tr>
              <a:tr h="690563">
                <a:tc>
                  <a:txBody>
                    <a:bodyPr/>
                    <a:lstStyle/>
                    <a:p>
                      <a:pPr>
                        <a:buNone/>
                      </a:pPr>
                      <a:r>
                        <a:rPr lang="en-US" sz="2000" dirty="0"/>
                        <a:t>ITU-R M.2160 [1]</a:t>
                      </a:r>
                    </a:p>
                  </a:txBody>
                  <a:tcPr anchor="ctr">
                    <a:solidFill>
                      <a:srgbClr val="FFFFFF"/>
                    </a:solidFill>
                  </a:tcPr>
                </a:tc>
                <a:tc>
                  <a:txBody>
                    <a:bodyPr/>
                    <a:lstStyle/>
                    <a:p>
                      <a:pPr>
                        <a:buNone/>
                      </a:pPr>
                      <a:r>
                        <a:rPr lang="en-US" sz="2000" dirty="0"/>
                        <a:t>Describes the future vision and goals of 6G.</a:t>
                      </a:r>
                    </a:p>
                  </a:txBody>
                  <a:tcPr anchor="ctr">
                    <a:solidFill>
                      <a:srgbClr val="FFFFFF"/>
                    </a:solidFill>
                  </a:tcPr>
                </a:tc>
                <a:tc>
                  <a:txBody>
                    <a:bodyPr/>
                    <a:lstStyle/>
                    <a:p>
                      <a:pPr algn="just">
                        <a:buNone/>
                      </a:pPr>
                      <a:r>
                        <a:rPr lang="en-US" sz="2000" dirty="0"/>
                        <a:t>Does not provide a complete performance comparison of integrated network layers.</a:t>
                      </a:r>
                    </a:p>
                  </a:txBody>
                  <a:tcPr anchor="ctr">
                    <a:solidFill>
                      <a:srgbClr val="FFFFFF"/>
                    </a:solidFill>
                  </a:tcPr>
                </a:tc>
                <a:extLst>
                  <a:ext uri="{0D108BD9-81ED-4DB2-BD59-A6C34878D82A}">
                    <a16:rowId xmlns:a16="http://schemas.microsoft.com/office/drawing/2014/main" val="10001"/>
                  </a:ext>
                </a:extLst>
              </a:tr>
              <a:tr h="690563">
                <a:tc>
                  <a:txBody>
                    <a:bodyPr/>
                    <a:lstStyle/>
                    <a:p>
                      <a:pPr>
                        <a:buNone/>
                      </a:pPr>
                      <a:r>
                        <a:rPr lang="en-US" sz="2000" dirty="0"/>
                        <a:t>SNS JU 6G KPI Report [2]</a:t>
                      </a:r>
                    </a:p>
                  </a:txBody>
                  <a:tcPr anchor="ctr">
                    <a:solidFill>
                      <a:srgbClr val="FFFFFF"/>
                    </a:solidFill>
                  </a:tcPr>
                </a:tc>
                <a:tc>
                  <a:txBody>
                    <a:bodyPr/>
                    <a:lstStyle/>
                    <a:p>
                      <a:pPr>
                        <a:buNone/>
                      </a:pPr>
                      <a:r>
                        <a:rPr lang="en-US" sz="2000" dirty="0"/>
                        <a:t>Defines important 6G performance indicators and targets.</a:t>
                      </a:r>
                    </a:p>
                  </a:txBody>
                  <a:tcPr anchor="ctr">
                    <a:solidFill>
                      <a:srgbClr val="FFFFFF"/>
                    </a:solidFill>
                  </a:tcPr>
                </a:tc>
                <a:tc>
                  <a:txBody>
                    <a:bodyPr/>
                    <a:lstStyle/>
                    <a:p>
                      <a:pPr>
                        <a:buNone/>
                      </a:pPr>
                      <a:r>
                        <a:rPr lang="en-US" sz="2000" dirty="0"/>
                        <a:t>Focuses mainly on KPIs mainly.</a:t>
                      </a:r>
                    </a:p>
                  </a:txBody>
                  <a:tcPr anchor="ctr">
                    <a:solidFill>
                      <a:srgbClr val="FFFFFF"/>
                    </a:solidFill>
                  </a:tcPr>
                </a:tc>
                <a:extLst>
                  <a:ext uri="{0D108BD9-81ED-4DB2-BD59-A6C34878D82A}">
                    <a16:rowId xmlns:a16="http://schemas.microsoft.com/office/drawing/2014/main" val="10002"/>
                  </a:ext>
                </a:extLst>
              </a:tr>
              <a:tr h="690563">
                <a:tc>
                  <a:txBody>
                    <a:bodyPr/>
                    <a:lstStyle/>
                    <a:p>
                      <a:pPr>
                        <a:buNone/>
                      </a:pPr>
                      <a:r>
                        <a:rPr lang="en-US" sz="2000" dirty="0"/>
                        <a:t>Research on AI-based 6G networks [3]</a:t>
                      </a:r>
                    </a:p>
                  </a:txBody>
                  <a:tcPr anchor="ctr">
                    <a:solidFill>
                      <a:srgbClr val="FFFFFF"/>
                    </a:solidFill>
                  </a:tcPr>
                </a:tc>
                <a:tc>
                  <a:txBody>
                    <a:bodyPr/>
                    <a:lstStyle/>
                    <a:p>
                      <a:pPr>
                        <a:buNone/>
                      </a:pPr>
                      <a:r>
                        <a:rPr lang="en-US" sz="2000" dirty="0"/>
                        <a:t>Studies AI-based network planning and high-frequency communication.</a:t>
                      </a:r>
                    </a:p>
                  </a:txBody>
                  <a:tcPr anchor="ctr">
                    <a:solidFill>
                      <a:srgbClr val="FFFFFF"/>
                    </a:solidFill>
                  </a:tcPr>
                </a:tc>
                <a:tc>
                  <a:txBody>
                    <a:bodyPr/>
                    <a:lstStyle/>
                    <a:p>
                      <a:pPr>
                        <a:buNone/>
                      </a:pPr>
                      <a:r>
                        <a:rPr lang="en-US" sz="2000" dirty="0"/>
                        <a:t>May not fully evaluate satellite, aerial, and ground networks together.</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3" name="Research gap">
            <a:extLst>
              <a:ext uri="{FF2B5EF4-FFF2-40B4-BE49-F238E27FC236}">
                <a16:creationId xmlns:a16="http://schemas.microsoft.com/office/drawing/2014/main" id="{19AEF7C9-7086-4D65-9F07-D2AFEB82B08B}"/>
              </a:ext>
            </a:extLst>
          </p:cNvPr>
          <p:cNvSpPr>
            <a:spLocks noGrp="1"/>
          </p:cNvSpPr>
          <p:nvPr/>
        </p:nvSpPr>
        <p:spPr>
          <a:xfrm>
            <a:off x="666750" y="5543548"/>
            <a:ext cx="1905000" cy="333375"/>
          </a:xfrm>
          <a:prstGeom prst="rect">
            <a:avLst/>
          </a:prstGeom>
          <a:noFill/>
          <a:ln w="0">
            <a:noFill/>
          </a:ln>
        </p:spPr>
        <p:txBody>
          <a:bodyPr wrap="square" lIns="0" tIns="0" rIns="0" bIns="0" anchor="t">
            <a:noAutofit/>
          </a:bodyPr>
          <a:lstStyle/>
          <a:p>
            <a:pPr>
              <a:defRPr sz="1600" b="1">
                <a:solidFill>
                  <a:srgbClr val="0067A6"/>
                </a:solidFill>
                <a:latin typeface="Calibri"/>
                <a:ea typeface="Calibri"/>
                <a:cs typeface="Calibri"/>
              </a:defRPr>
            </a:pPr>
            <a:r>
              <a:rPr sz="2400" b="1" dirty="0">
                <a:solidFill>
                  <a:srgbClr val="0067A6"/>
                </a:solidFill>
                <a:latin typeface="Calibri"/>
                <a:ea typeface="Calibri"/>
                <a:cs typeface="Calibri"/>
              </a:rPr>
              <a:t>Research gap</a:t>
            </a:r>
          </a:p>
        </p:txBody>
      </p:sp>
      <p:sp>
        <p:nvSpPr>
          <p:cNvPr id="14" name="[The specific gap addressed by this paper]">
            <a:extLst>
              <a:ext uri="{FF2B5EF4-FFF2-40B4-BE49-F238E27FC236}">
                <a16:creationId xmlns:a16="http://schemas.microsoft.com/office/drawing/2014/main" id="{FACED8AA-5854-4669-99E8-A5574941D3FB}"/>
              </a:ext>
            </a:extLst>
          </p:cNvPr>
          <p:cNvSpPr>
            <a:spLocks noGrp="1"/>
          </p:cNvSpPr>
          <p:nvPr/>
        </p:nvSpPr>
        <p:spPr>
          <a:xfrm>
            <a:off x="3171825" y="5399315"/>
            <a:ext cx="8286750" cy="619125"/>
          </a:xfrm>
          <a:prstGeom prst="rect">
            <a:avLst/>
          </a:prstGeom>
          <a:noFill/>
          <a:ln w="0">
            <a:noFill/>
          </a:ln>
        </p:spPr>
        <p:txBody>
          <a:bodyPr wrap="square" lIns="0" tIns="0" rIns="0" bIns="0" anchor="t">
            <a:noAutofit/>
          </a:bodyPr>
          <a:lstStyle/>
          <a:p>
            <a:r>
              <a:rPr lang="en-US" sz="2000" dirty="0"/>
              <a:t>Limited comparative evaluation of integrated 3D space-air-ground 6G networks and 5G networks across different frequency bands under the same simulation conditions.</a:t>
            </a:r>
          </a:p>
        </p:txBody>
      </p:sp>
      <p:pic>
        <p:nvPicPr>
          <p:cNvPr id="3" name="Picture 2" descr="image.png">
            <a:extLst>
              <a:ext uri="{FF2B5EF4-FFF2-40B4-BE49-F238E27FC236}">
                <a16:creationId xmlns:a16="http://schemas.microsoft.com/office/drawing/2014/main" id="{21DAB0D2-98C5-EBC7-AD99-2F40B14C163C}"/>
              </a:ext>
            </a:extLst>
          </p:cNvPr>
          <p:cNvPicPr>
            <a:picLocks noChangeAspect="1"/>
          </p:cNvPicPr>
          <p:nvPr/>
        </p:nvPicPr>
        <p:blipFill>
          <a:blip r:embed="rId3"/>
          <a:stretch>
            <a:fillRect/>
          </a:stretch>
        </p:blipFill>
        <p:spPr>
          <a:xfrm>
            <a:off x="10950688" y="75407"/>
            <a:ext cx="1187224" cy="1163637"/>
          </a:xfrm>
          <a:prstGeom prst="rect">
            <a:avLst/>
          </a:prstGeom>
        </p:spPr>
      </p:pic>
    </p:spTree>
    <p:extLst>
      <p:ext uri="{BB962C8B-B14F-4D97-AF65-F5344CB8AC3E}">
        <p14:creationId xmlns:p14="http://schemas.microsoft.com/office/powerpoint/2010/main" val="964206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Methodology">
            <a:extLst>
              <a:ext uri="{FF2B5EF4-FFF2-40B4-BE49-F238E27FC236}">
                <a16:creationId xmlns:a16="http://schemas.microsoft.com/office/drawing/2014/main" id="{D9838093-28A3-469A-86DC-8414AF07DBA1}"/>
              </a:ext>
            </a:extLst>
          </p:cNvPr>
          <p:cNvSpPr>
            <a:spLocks noGrp="1"/>
          </p:cNvSpPr>
          <p:nvPr/>
        </p:nvSpPr>
        <p:spPr>
          <a:xfrm>
            <a:off x="647700" y="1126670"/>
            <a:ext cx="10810875" cy="628650"/>
          </a:xfrm>
          <a:prstGeom prst="rect">
            <a:avLst/>
          </a:prstGeom>
          <a:noFill/>
          <a:ln w="0">
            <a:noFill/>
          </a:ln>
        </p:spPr>
        <p:txBody>
          <a:bodyPr wrap="square" lIns="0" tIns="0" rIns="0" bIns="0" anchor="t">
            <a:noAutofit/>
          </a:bodyPr>
          <a:lstStyle/>
          <a:p>
            <a:pPr>
              <a:defRPr sz="2900" b="1">
                <a:solidFill>
                  <a:srgbClr val="12263D"/>
                </a:solidFill>
                <a:latin typeface="Calibri"/>
                <a:ea typeface="Calibri"/>
                <a:cs typeface="Calibri"/>
              </a:defRPr>
            </a:pPr>
            <a:r>
              <a:rPr sz="3600" b="1" dirty="0">
                <a:solidFill>
                  <a:srgbClr val="12263D"/>
                </a:solidFill>
                <a:latin typeface="Calibri"/>
                <a:ea typeface="Calibri"/>
                <a:cs typeface="Calibri"/>
              </a:rPr>
              <a:t>Methodology</a:t>
            </a:r>
          </a:p>
        </p:txBody>
      </p:sp>
      <p:sp>
        <p:nvSpPr>
          <p:cNvPr id="7" name="Straight Connector 6">
            <a:extLst>
              <a:ext uri="{FF2B5EF4-FFF2-40B4-BE49-F238E27FC236}">
                <a16:creationId xmlns:a16="http://schemas.microsoft.com/office/drawing/2014/main" id="{348F71E3-A8E2-4E38-BFF6-15332CDF6BA0}"/>
              </a:ext>
            </a:extLst>
          </p:cNvPr>
          <p:cNvSpPr>
            <a:spLocks noGrp="1"/>
          </p:cNvSpPr>
          <p:nvPr/>
        </p:nvSpPr>
        <p:spPr>
          <a:xfrm>
            <a:off x="647700" y="1933575"/>
            <a:ext cx="10896600" cy="0"/>
          </a:xfrm>
          <a:prstGeom prst="line">
            <a:avLst/>
          </a:prstGeom>
          <a:noFill/>
          <a:ln w="9525">
            <a:solidFill>
              <a:srgbClr val="D7E1E9"/>
            </a:solidFill>
          </a:ln>
        </p:spPr>
        <p:txBody>
          <a:bodyPr/>
          <a:lstStyle/>
          <a:p>
            <a:endParaRPr lang="en-GB" sz="2400"/>
          </a:p>
        </p:txBody>
      </p:sp>
      <p:sp>
        <p:nvSpPr>
          <p:cNvPr id="8" name="Straight Connector 7">
            <a:extLst>
              <a:ext uri="{FF2B5EF4-FFF2-40B4-BE49-F238E27FC236}">
                <a16:creationId xmlns:a16="http://schemas.microsoft.com/office/drawing/2014/main" id="{8AA42B6E-D1BD-49ED-9888-0EB994724209}"/>
              </a:ext>
            </a:extLst>
          </p:cNvPr>
          <p:cNvSpPr>
            <a:spLocks noGrp="1"/>
          </p:cNvSpPr>
          <p:nvPr/>
        </p:nvSpPr>
        <p:spPr>
          <a:xfrm>
            <a:off x="647700" y="6238875"/>
            <a:ext cx="10896600" cy="0"/>
          </a:xfrm>
          <a:prstGeom prst="line">
            <a:avLst/>
          </a:prstGeom>
          <a:noFill/>
          <a:ln w="9525">
            <a:solidFill>
              <a:srgbClr val="D7E1E9"/>
            </a:solidFill>
          </a:ln>
        </p:spPr>
        <p:txBody>
          <a:bodyPr/>
          <a:lstStyle/>
          <a:p>
            <a:endParaRPr lang="en-GB" sz="2400"/>
          </a:p>
        </p:txBody>
      </p:sp>
      <p:sp>
        <p:nvSpPr>
          <p:cNvPr id="9" name="[Short paper title]">
            <a:extLst>
              <a:ext uri="{FF2B5EF4-FFF2-40B4-BE49-F238E27FC236}">
                <a16:creationId xmlns:a16="http://schemas.microsoft.com/office/drawing/2014/main" id="{3E257554-737D-4321-9BBF-4560AA9C0D2D}"/>
              </a:ext>
            </a:extLst>
          </p:cNvPr>
          <p:cNvSpPr>
            <a:spLocks noGrp="1"/>
          </p:cNvSpPr>
          <p:nvPr/>
        </p:nvSpPr>
        <p:spPr>
          <a:xfrm>
            <a:off x="647700" y="6419850"/>
            <a:ext cx="6429375"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r>
              <a:rPr lang="en-US" sz="2000" dirty="0">
                <a:solidFill>
                  <a:srgbClr val="627185"/>
                </a:solidFill>
                <a:latin typeface="Calibri"/>
              </a:rPr>
              <a:t>6G Architecture &amp; Requirements</a:t>
            </a:r>
            <a:endParaRPr lang="en-US" sz="2000" dirty="0">
              <a:solidFill>
                <a:srgbClr val="627185"/>
              </a:solidFill>
              <a:latin typeface="Calibri"/>
              <a:ea typeface="Calibri"/>
              <a:cs typeface="Calibri"/>
            </a:endParaRPr>
          </a:p>
        </p:txBody>
      </p:sp>
      <p:sp>
        <p:nvSpPr>
          <p:cNvPr id="10" name="Paper ID: [000]">
            <a:extLst>
              <a:ext uri="{FF2B5EF4-FFF2-40B4-BE49-F238E27FC236}">
                <a16:creationId xmlns:a16="http://schemas.microsoft.com/office/drawing/2014/main" id="{F5E3DA96-4F9F-4B93-A4FD-93BA14D46803}"/>
              </a:ext>
            </a:extLst>
          </p:cNvPr>
          <p:cNvSpPr>
            <a:spLocks noGrp="1"/>
          </p:cNvSpPr>
          <p:nvPr/>
        </p:nvSpPr>
        <p:spPr>
          <a:xfrm>
            <a:off x="8905875" y="6419850"/>
            <a:ext cx="2000250"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endParaRPr sz="2000" b="0" dirty="0">
              <a:solidFill>
                <a:srgbClr val="627185"/>
              </a:solidFill>
              <a:latin typeface="Calibri"/>
              <a:ea typeface="Calibri"/>
              <a:cs typeface="Calibri"/>
            </a:endParaRPr>
          </a:p>
        </p:txBody>
      </p:sp>
      <p:sp>
        <p:nvSpPr>
          <p:cNvPr id="11" name="06">
            <a:extLst>
              <a:ext uri="{FF2B5EF4-FFF2-40B4-BE49-F238E27FC236}">
                <a16:creationId xmlns:a16="http://schemas.microsoft.com/office/drawing/2014/main" id="{2474A4E2-CB09-484B-8805-66F181800E2B}"/>
              </a:ext>
            </a:extLst>
          </p:cNvPr>
          <p:cNvSpPr>
            <a:spLocks noGrp="1"/>
          </p:cNvSpPr>
          <p:nvPr/>
        </p:nvSpPr>
        <p:spPr>
          <a:xfrm>
            <a:off x="11125200" y="6419850"/>
            <a:ext cx="419100" cy="219075"/>
          </a:xfrm>
          <a:prstGeom prst="rect">
            <a:avLst/>
          </a:prstGeom>
          <a:noFill/>
          <a:ln w="0">
            <a:noFill/>
          </a:ln>
        </p:spPr>
        <p:txBody>
          <a:bodyPr wrap="square" lIns="0" tIns="0" rIns="0" bIns="0" anchor="t">
            <a:noAutofit/>
          </a:bodyPr>
          <a:lstStyle/>
          <a:p>
            <a:pPr>
              <a:defRPr sz="1000" b="1">
                <a:solidFill>
                  <a:srgbClr val="0067A6"/>
                </a:solidFill>
                <a:latin typeface="Calibri"/>
                <a:ea typeface="Calibri"/>
                <a:cs typeface="Calibri"/>
              </a:defRPr>
            </a:pPr>
            <a:r>
              <a:rPr sz="2000" b="1">
                <a:solidFill>
                  <a:srgbClr val="0067A6"/>
                </a:solidFill>
                <a:latin typeface="Calibri"/>
                <a:ea typeface="Calibri"/>
                <a:cs typeface="Calibri"/>
              </a:rPr>
              <a:t>05</a:t>
            </a:r>
          </a:p>
        </p:txBody>
      </p:sp>
      <p:sp>
        <p:nvSpPr>
          <p:cNvPr id="12" name="[Procedure used to construct or apply the solution]">
            <a:extLst>
              <a:ext uri="{FF2B5EF4-FFF2-40B4-BE49-F238E27FC236}">
                <a16:creationId xmlns:a16="http://schemas.microsoft.com/office/drawing/2014/main" id="{7B12E95D-227F-4405-A93A-6ADE78396FD2}"/>
              </a:ext>
            </a:extLst>
          </p:cNvPr>
          <p:cNvSpPr>
            <a:spLocks noGrp="1"/>
          </p:cNvSpPr>
          <p:nvPr/>
        </p:nvSpPr>
        <p:spPr>
          <a:xfrm>
            <a:off x="666750" y="2184400"/>
            <a:ext cx="10795000" cy="406400"/>
          </a:xfrm>
          <a:prstGeom prst="rect">
            <a:avLst/>
          </a:prstGeom>
          <a:noFill/>
          <a:ln w="0">
            <a:noFill/>
          </a:ln>
        </p:spPr>
        <p:txBody>
          <a:bodyPr wrap="square" lIns="0" tIns="0" rIns="0" bIns="0" anchor="t">
            <a:noAutofit/>
          </a:bodyPr>
          <a:lstStyle/>
          <a:p>
            <a:pPr>
              <a:defRPr sz="2150" b="1">
                <a:solidFill>
                  <a:srgbClr val="0067A6"/>
                </a:solidFill>
                <a:latin typeface="Calibri"/>
                <a:ea typeface="Calibri"/>
                <a:cs typeface="Calibri"/>
              </a:defRPr>
            </a:pPr>
            <a:r>
              <a:rPr lang="en-US" sz="2400" dirty="0">
                <a:solidFill>
                  <a:srgbClr val="0067A6"/>
                </a:solidFill>
                <a:latin typeface="Calibri"/>
                <a:ea typeface="Calibri"/>
                <a:cs typeface="Calibri"/>
              </a:rPr>
              <a:t> </a:t>
            </a:r>
            <a:r>
              <a:rPr lang="en-US" sz="2400" dirty="0">
                <a:solidFill>
                  <a:srgbClr val="0067A6"/>
                </a:solidFill>
                <a:latin typeface="Calibri"/>
              </a:rPr>
              <a:t>Integrated Space-Air-Ground 6G Architecture</a:t>
            </a:r>
          </a:p>
          <a:p>
            <a:pPr>
              <a:defRPr sz="2150" b="1">
                <a:solidFill>
                  <a:srgbClr val="0067A6"/>
                </a:solidFill>
                <a:latin typeface="Calibri"/>
                <a:ea typeface="Calibri"/>
                <a:cs typeface="Calibri"/>
              </a:defRPr>
            </a:pPr>
            <a:endParaRPr lang="en-US" sz="2400" dirty="0">
              <a:solidFill>
                <a:srgbClr val="0067A6"/>
              </a:solidFill>
              <a:latin typeface="Calibri"/>
            </a:endParaRPr>
          </a:p>
          <a:p>
            <a:pPr>
              <a:defRPr sz="2150" b="1">
                <a:solidFill>
                  <a:srgbClr val="0067A6"/>
                </a:solidFill>
                <a:latin typeface="Calibri"/>
                <a:ea typeface="Calibri"/>
                <a:cs typeface="Calibri"/>
              </a:defRPr>
            </a:pPr>
            <a:endParaRPr sz="2400" dirty="0">
              <a:solidFill>
                <a:srgbClr val="0067A6"/>
              </a:solidFill>
              <a:latin typeface="Calibri"/>
              <a:ea typeface="Calibri"/>
              <a:cs typeface="Calibri"/>
            </a:endParaRPr>
          </a:p>
        </p:txBody>
      </p:sp>
      <p:sp>
        <p:nvSpPr>
          <p:cNvPr id="13" name="01">
            <a:extLst>
              <a:ext uri="{FF2B5EF4-FFF2-40B4-BE49-F238E27FC236}">
                <a16:creationId xmlns:a16="http://schemas.microsoft.com/office/drawing/2014/main" id="{26B7E323-2EB6-42CF-B7EB-7F9001519C42}"/>
              </a:ext>
            </a:extLst>
          </p:cNvPr>
          <p:cNvSpPr>
            <a:spLocks noGrp="1"/>
          </p:cNvSpPr>
          <p:nvPr/>
        </p:nvSpPr>
        <p:spPr>
          <a:xfrm>
            <a:off x="7010400" y="2933700"/>
            <a:ext cx="558800" cy="381000"/>
          </a:xfrm>
          <a:prstGeom prst="rect">
            <a:avLst/>
          </a:prstGeom>
          <a:noFill/>
          <a:ln w="0">
            <a:noFill/>
          </a:ln>
        </p:spPr>
        <p:txBody>
          <a:bodyPr wrap="square" lIns="0" tIns="0" rIns="0" bIns="0" anchor="t">
            <a:noAutofit/>
          </a:bodyPr>
          <a:lstStyle/>
          <a:p>
            <a:pPr>
              <a:defRPr sz="2350" b="1">
                <a:solidFill>
                  <a:srgbClr val="0067A6"/>
                </a:solidFill>
                <a:latin typeface="Calibri"/>
                <a:ea typeface="Calibri"/>
                <a:cs typeface="Calibri"/>
              </a:defRPr>
            </a:pPr>
            <a:r>
              <a:rPr sz="2400" b="1">
                <a:solidFill>
                  <a:srgbClr val="0067A6"/>
                </a:solidFill>
                <a:latin typeface="Calibri"/>
                <a:ea typeface="Calibri"/>
                <a:cs typeface="Calibri"/>
              </a:rPr>
              <a:t>01</a:t>
            </a:r>
          </a:p>
        </p:txBody>
      </p:sp>
      <p:sp>
        <p:nvSpPr>
          <p:cNvPr id="14" name="Straight Connector 13">
            <a:extLst>
              <a:ext uri="{FF2B5EF4-FFF2-40B4-BE49-F238E27FC236}">
                <a16:creationId xmlns:a16="http://schemas.microsoft.com/office/drawing/2014/main" id="{DE6D7F51-FBB2-4D66-B5D6-566DAFD16F12}"/>
              </a:ext>
            </a:extLst>
          </p:cNvPr>
          <p:cNvSpPr>
            <a:spLocks noGrp="1"/>
          </p:cNvSpPr>
          <p:nvPr/>
        </p:nvSpPr>
        <p:spPr>
          <a:xfrm>
            <a:off x="7010400" y="2819400"/>
            <a:ext cx="4445000" cy="0"/>
          </a:xfrm>
          <a:prstGeom prst="line">
            <a:avLst/>
          </a:prstGeom>
          <a:noFill/>
          <a:ln w="9525">
            <a:solidFill>
              <a:srgbClr val="D7E1E9"/>
            </a:solidFill>
          </a:ln>
        </p:spPr>
        <p:txBody>
          <a:bodyPr/>
          <a:lstStyle/>
          <a:p>
            <a:endParaRPr lang="en-GB" sz="2400"/>
          </a:p>
        </p:txBody>
      </p:sp>
      <p:sp>
        <p:nvSpPr>
          <p:cNvPr id="15" name="[Step 1: preparation]">
            <a:extLst>
              <a:ext uri="{FF2B5EF4-FFF2-40B4-BE49-F238E27FC236}">
                <a16:creationId xmlns:a16="http://schemas.microsoft.com/office/drawing/2014/main" id="{41BF3C8D-06B4-4B02-8178-417CD73BB40A}"/>
              </a:ext>
            </a:extLst>
          </p:cNvPr>
          <p:cNvSpPr>
            <a:spLocks noGrp="1"/>
          </p:cNvSpPr>
          <p:nvPr/>
        </p:nvSpPr>
        <p:spPr>
          <a:xfrm>
            <a:off x="7645400" y="2933700"/>
            <a:ext cx="3810000" cy="304800"/>
          </a:xfrm>
          <a:prstGeom prst="rect">
            <a:avLst/>
          </a:prstGeom>
          <a:noFill/>
          <a:ln w="0">
            <a:noFill/>
          </a:ln>
        </p:spPr>
        <p:txBody>
          <a:bodyPr wrap="square" lIns="0" tIns="0" rIns="0" bIns="0" anchor="t">
            <a:noAutofit/>
          </a:bodyPr>
          <a:lstStyle/>
          <a:p>
            <a:pPr>
              <a:defRPr sz="1600" b="1">
                <a:solidFill>
                  <a:srgbClr val="12263D"/>
                </a:solidFill>
                <a:latin typeface="Calibri"/>
                <a:ea typeface="Calibri"/>
                <a:cs typeface="Calibri"/>
              </a:defRPr>
            </a:pPr>
            <a:r>
              <a:rPr sz="2400" b="1" dirty="0">
                <a:solidFill>
                  <a:srgbClr val="12263D"/>
                </a:solidFill>
                <a:latin typeface="Calibri"/>
                <a:ea typeface="Calibri"/>
                <a:cs typeface="Calibri"/>
              </a:rPr>
              <a:t>[Step 1: </a:t>
            </a:r>
            <a:r>
              <a:rPr lang="en-US" sz="2400" b="1" dirty="0">
                <a:solidFill>
                  <a:srgbClr val="12263D"/>
                </a:solidFill>
                <a:latin typeface="Calibri"/>
                <a:ea typeface="Calibri"/>
                <a:cs typeface="Calibri"/>
              </a:rPr>
              <a:t>Input </a:t>
            </a:r>
            <a:r>
              <a:rPr sz="2400" b="1" dirty="0">
                <a:solidFill>
                  <a:srgbClr val="12263D"/>
                </a:solidFill>
                <a:latin typeface="Calibri"/>
                <a:ea typeface="Calibri"/>
                <a:cs typeface="Calibri"/>
              </a:rPr>
              <a:t>preparation]</a:t>
            </a:r>
          </a:p>
        </p:txBody>
      </p:sp>
      <p:sp>
        <p:nvSpPr>
          <p:cNvPr id="16" name="[Input data, assumptions or initialisation]">
            <a:extLst>
              <a:ext uri="{FF2B5EF4-FFF2-40B4-BE49-F238E27FC236}">
                <a16:creationId xmlns:a16="http://schemas.microsoft.com/office/drawing/2014/main" id="{925B1ED1-A51C-4467-ACB7-3883A972703C}"/>
              </a:ext>
            </a:extLst>
          </p:cNvPr>
          <p:cNvSpPr>
            <a:spLocks noGrp="1"/>
          </p:cNvSpPr>
          <p:nvPr/>
        </p:nvSpPr>
        <p:spPr>
          <a:xfrm>
            <a:off x="7645400" y="3251200"/>
            <a:ext cx="3810000" cy="533400"/>
          </a:xfrm>
          <a:prstGeom prst="rect">
            <a:avLst/>
          </a:prstGeom>
          <a:noFill/>
          <a:ln w="0">
            <a:noFill/>
          </a:ln>
        </p:spPr>
        <p:txBody>
          <a:bodyPr wrap="square" lIns="0" tIns="0" rIns="0" bIns="0" anchor="t">
            <a:noAutofit/>
          </a:bodyPr>
          <a:lstStyle/>
          <a:p>
            <a:pPr>
              <a:defRPr sz="1450" b="0">
                <a:solidFill>
                  <a:srgbClr val="627185"/>
                </a:solidFill>
                <a:latin typeface="Calibri"/>
                <a:ea typeface="Calibri"/>
                <a:cs typeface="Calibri"/>
              </a:defRPr>
            </a:pPr>
            <a:r>
              <a:rPr lang="en-US" sz="2000" dirty="0">
                <a:solidFill>
                  <a:srgbClr val="627185"/>
                </a:solidFill>
                <a:latin typeface="Calibri"/>
              </a:rPr>
              <a:t>Define frequency bands, user density, and network nodes.</a:t>
            </a:r>
            <a:endParaRPr sz="2000" b="0" dirty="0">
              <a:solidFill>
                <a:srgbClr val="627185"/>
              </a:solidFill>
              <a:latin typeface="Calibri"/>
              <a:ea typeface="Calibri"/>
              <a:cs typeface="Calibri"/>
            </a:endParaRPr>
          </a:p>
        </p:txBody>
      </p:sp>
      <p:sp>
        <p:nvSpPr>
          <p:cNvPr id="17" name="02">
            <a:extLst>
              <a:ext uri="{FF2B5EF4-FFF2-40B4-BE49-F238E27FC236}">
                <a16:creationId xmlns:a16="http://schemas.microsoft.com/office/drawing/2014/main" id="{5834C0C6-D8A3-4651-B196-AA924687C123}"/>
              </a:ext>
            </a:extLst>
          </p:cNvPr>
          <p:cNvSpPr>
            <a:spLocks noGrp="1"/>
          </p:cNvSpPr>
          <p:nvPr/>
        </p:nvSpPr>
        <p:spPr>
          <a:xfrm>
            <a:off x="7010400" y="3975100"/>
            <a:ext cx="558800" cy="381000"/>
          </a:xfrm>
          <a:prstGeom prst="rect">
            <a:avLst/>
          </a:prstGeom>
          <a:noFill/>
          <a:ln w="0">
            <a:noFill/>
          </a:ln>
        </p:spPr>
        <p:txBody>
          <a:bodyPr wrap="square" lIns="0" tIns="0" rIns="0" bIns="0" anchor="t">
            <a:noAutofit/>
          </a:bodyPr>
          <a:lstStyle/>
          <a:p>
            <a:pPr>
              <a:defRPr sz="2350" b="1">
                <a:solidFill>
                  <a:srgbClr val="0067A6"/>
                </a:solidFill>
                <a:latin typeface="Calibri"/>
                <a:ea typeface="Calibri"/>
                <a:cs typeface="Calibri"/>
              </a:defRPr>
            </a:pPr>
            <a:r>
              <a:rPr sz="2400" b="1">
                <a:solidFill>
                  <a:srgbClr val="0067A6"/>
                </a:solidFill>
                <a:latin typeface="Calibri"/>
                <a:ea typeface="Calibri"/>
                <a:cs typeface="Calibri"/>
              </a:rPr>
              <a:t>02</a:t>
            </a:r>
          </a:p>
        </p:txBody>
      </p:sp>
      <p:sp>
        <p:nvSpPr>
          <p:cNvPr id="18" name="Straight Connector 17">
            <a:extLst>
              <a:ext uri="{FF2B5EF4-FFF2-40B4-BE49-F238E27FC236}">
                <a16:creationId xmlns:a16="http://schemas.microsoft.com/office/drawing/2014/main" id="{26E3A72E-1EB8-419C-8A17-0F445E31212B}"/>
              </a:ext>
            </a:extLst>
          </p:cNvPr>
          <p:cNvSpPr>
            <a:spLocks noGrp="1"/>
          </p:cNvSpPr>
          <p:nvPr/>
        </p:nvSpPr>
        <p:spPr>
          <a:xfrm>
            <a:off x="7010400" y="3860800"/>
            <a:ext cx="4445000" cy="0"/>
          </a:xfrm>
          <a:prstGeom prst="line">
            <a:avLst/>
          </a:prstGeom>
          <a:noFill/>
          <a:ln w="9525">
            <a:solidFill>
              <a:srgbClr val="D7E1E9"/>
            </a:solidFill>
          </a:ln>
        </p:spPr>
        <p:txBody>
          <a:bodyPr/>
          <a:lstStyle/>
          <a:p>
            <a:endParaRPr lang="en-GB" sz="2400"/>
          </a:p>
        </p:txBody>
      </p:sp>
      <p:sp>
        <p:nvSpPr>
          <p:cNvPr id="19" name="[Step 2: core procedure]">
            <a:extLst>
              <a:ext uri="{FF2B5EF4-FFF2-40B4-BE49-F238E27FC236}">
                <a16:creationId xmlns:a16="http://schemas.microsoft.com/office/drawing/2014/main" id="{3C7764C0-E006-4040-9BBB-61331DA71D72}"/>
              </a:ext>
            </a:extLst>
          </p:cNvPr>
          <p:cNvSpPr>
            <a:spLocks noGrp="1"/>
          </p:cNvSpPr>
          <p:nvPr/>
        </p:nvSpPr>
        <p:spPr>
          <a:xfrm>
            <a:off x="7645400" y="3975100"/>
            <a:ext cx="3810000" cy="304800"/>
          </a:xfrm>
          <a:prstGeom prst="rect">
            <a:avLst/>
          </a:prstGeom>
          <a:noFill/>
          <a:ln w="0">
            <a:noFill/>
          </a:ln>
        </p:spPr>
        <p:txBody>
          <a:bodyPr wrap="square" lIns="0" tIns="0" rIns="0" bIns="0" anchor="t">
            <a:noAutofit/>
          </a:bodyPr>
          <a:lstStyle/>
          <a:p>
            <a:pPr>
              <a:defRPr sz="1600" b="1">
                <a:solidFill>
                  <a:srgbClr val="12263D"/>
                </a:solidFill>
                <a:latin typeface="Calibri"/>
                <a:ea typeface="Calibri"/>
                <a:cs typeface="Calibri"/>
              </a:defRPr>
            </a:pPr>
            <a:r>
              <a:rPr sz="2400" b="1">
                <a:solidFill>
                  <a:srgbClr val="12263D"/>
                </a:solidFill>
                <a:latin typeface="Calibri"/>
                <a:ea typeface="Calibri"/>
                <a:cs typeface="Calibri"/>
              </a:rPr>
              <a:t>[Step 2: core procedure]</a:t>
            </a:r>
          </a:p>
        </p:txBody>
      </p:sp>
      <p:sp>
        <p:nvSpPr>
          <p:cNvPr id="20" name="[Training, algorithm steps or implementation]">
            <a:extLst>
              <a:ext uri="{FF2B5EF4-FFF2-40B4-BE49-F238E27FC236}">
                <a16:creationId xmlns:a16="http://schemas.microsoft.com/office/drawing/2014/main" id="{AB1575D5-6F24-49E1-8AB9-C7C3B09B0EE5}"/>
              </a:ext>
            </a:extLst>
          </p:cNvPr>
          <p:cNvSpPr>
            <a:spLocks noGrp="1"/>
          </p:cNvSpPr>
          <p:nvPr/>
        </p:nvSpPr>
        <p:spPr>
          <a:xfrm>
            <a:off x="7645400" y="4301672"/>
            <a:ext cx="3810000" cy="533400"/>
          </a:xfrm>
          <a:prstGeom prst="rect">
            <a:avLst/>
          </a:prstGeom>
          <a:noFill/>
          <a:ln w="0">
            <a:noFill/>
          </a:ln>
        </p:spPr>
        <p:txBody>
          <a:bodyPr wrap="square" lIns="0" tIns="0" rIns="0" bIns="0" anchor="t">
            <a:noAutofit/>
          </a:bodyPr>
          <a:lstStyle/>
          <a:p>
            <a:r>
              <a:rPr lang="en-US" sz="2000" dirty="0"/>
              <a:t>Calculate path loss, data rate, latency, and RIS performance.</a:t>
            </a:r>
          </a:p>
        </p:txBody>
      </p:sp>
      <p:sp>
        <p:nvSpPr>
          <p:cNvPr id="21" name="03">
            <a:extLst>
              <a:ext uri="{FF2B5EF4-FFF2-40B4-BE49-F238E27FC236}">
                <a16:creationId xmlns:a16="http://schemas.microsoft.com/office/drawing/2014/main" id="{F0FE2704-BDCD-4351-BAA3-1301FD0D9C91}"/>
              </a:ext>
            </a:extLst>
          </p:cNvPr>
          <p:cNvSpPr>
            <a:spLocks noGrp="1"/>
          </p:cNvSpPr>
          <p:nvPr/>
        </p:nvSpPr>
        <p:spPr>
          <a:xfrm>
            <a:off x="7010400" y="5016500"/>
            <a:ext cx="558800" cy="381000"/>
          </a:xfrm>
          <a:prstGeom prst="rect">
            <a:avLst/>
          </a:prstGeom>
          <a:noFill/>
          <a:ln w="0">
            <a:noFill/>
          </a:ln>
        </p:spPr>
        <p:txBody>
          <a:bodyPr wrap="square" lIns="0" tIns="0" rIns="0" bIns="0" anchor="t">
            <a:noAutofit/>
          </a:bodyPr>
          <a:lstStyle/>
          <a:p>
            <a:pPr>
              <a:defRPr sz="2350" b="1">
                <a:solidFill>
                  <a:srgbClr val="0067A6"/>
                </a:solidFill>
                <a:latin typeface="Calibri"/>
                <a:ea typeface="Calibri"/>
                <a:cs typeface="Calibri"/>
              </a:defRPr>
            </a:pPr>
            <a:r>
              <a:rPr sz="2400" b="1">
                <a:solidFill>
                  <a:srgbClr val="0067A6"/>
                </a:solidFill>
                <a:latin typeface="Calibri"/>
                <a:ea typeface="Calibri"/>
                <a:cs typeface="Calibri"/>
              </a:rPr>
              <a:t>03</a:t>
            </a:r>
          </a:p>
        </p:txBody>
      </p:sp>
      <p:sp>
        <p:nvSpPr>
          <p:cNvPr id="22" name="Straight Connector 21">
            <a:extLst>
              <a:ext uri="{FF2B5EF4-FFF2-40B4-BE49-F238E27FC236}">
                <a16:creationId xmlns:a16="http://schemas.microsoft.com/office/drawing/2014/main" id="{E037492B-6A52-422D-B7E6-4295A6AFB914}"/>
              </a:ext>
            </a:extLst>
          </p:cNvPr>
          <p:cNvSpPr>
            <a:spLocks noGrp="1"/>
          </p:cNvSpPr>
          <p:nvPr/>
        </p:nvSpPr>
        <p:spPr>
          <a:xfrm>
            <a:off x="7010400" y="4998810"/>
            <a:ext cx="4445000" cy="0"/>
          </a:xfrm>
          <a:prstGeom prst="line">
            <a:avLst/>
          </a:prstGeom>
          <a:noFill/>
          <a:ln w="9525">
            <a:solidFill>
              <a:srgbClr val="D7E1E9"/>
            </a:solidFill>
          </a:ln>
        </p:spPr>
        <p:txBody>
          <a:bodyPr/>
          <a:lstStyle/>
          <a:p>
            <a:endParaRPr lang="en-GB" sz="2400"/>
          </a:p>
        </p:txBody>
      </p:sp>
      <p:sp>
        <p:nvSpPr>
          <p:cNvPr id="23" name="[Step 3: output]">
            <a:extLst>
              <a:ext uri="{FF2B5EF4-FFF2-40B4-BE49-F238E27FC236}">
                <a16:creationId xmlns:a16="http://schemas.microsoft.com/office/drawing/2014/main" id="{CD2F09ED-C248-4EB8-92B3-9BD6961D29D1}"/>
              </a:ext>
            </a:extLst>
          </p:cNvPr>
          <p:cNvSpPr>
            <a:spLocks noGrp="1"/>
          </p:cNvSpPr>
          <p:nvPr/>
        </p:nvSpPr>
        <p:spPr>
          <a:xfrm>
            <a:off x="7645400" y="4998810"/>
            <a:ext cx="3810000" cy="304800"/>
          </a:xfrm>
          <a:prstGeom prst="rect">
            <a:avLst/>
          </a:prstGeom>
          <a:noFill/>
          <a:ln w="0">
            <a:noFill/>
          </a:ln>
        </p:spPr>
        <p:txBody>
          <a:bodyPr wrap="square" lIns="0" tIns="0" rIns="0" bIns="0" anchor="t">
            <a:noAutofit/>
          </a:bodyPr>
          <a:lstStyle/>
          <a:p>
            <a:pPr>
              <a:defRPr sz="1600" b="1">
                <a:solidFill>
                  <a:srgbClr val="12263D"/>
                </a:solidFill>
                <a:latin typeface="Calibri"/>
                <a:ea typeface="Calibri"/>
                <a:cs typeface="Calibri"/>
              </a:defRPr>
            </a:pPr>
            <a:r>
              <a:rPr sz="2400" b="1" dirty="0">
                <a:solidFill>
                  <a:srgbClr val="12263D"/>
                </a:solidFill>
                <a:latin typeface="Calibri"/>
                <a:ea typeface="Calibri"/>
                <a:cs typeface="Calibri"/>
              </a:rPr>
              <a:t>[Step 3: output]</a:t>
            </a:r>
          </a:p>
        </p:txBody>
      </p:sp>
      <p:sp>
        <p:nvSpPr>
          <p:cNvPr id="24" name="[Output generation or analysis procedure]">
            <a:extLst>
              <a:ext uri="{FF2B5EF4-FFF2-40B4-BE49-F238E27FC236}">
                <a16:creationId xmlns:a16="http://schemas.microsoft.com/office/drawing/2014/main" id="{7B439D79-B3DF-43A1-AA31-AF736AED03AE}"/>
              </a:ext>
            </a:extLst>
          </p:cNvPr>
          <p:cNvSpPr>
            <a:spLocks noGrp="1"/>
          </p:cNvSpPr>
          <p:nvPr/>
        </p:nvSpPr>
        <p:spPr>
          <a:xfrm>
            <a:off x="7808685" y="5437414"/>
            <a:ext cx="3810000" cy="533400"/>
          </a:xfrm>
          <a:prstGeom prst="rect">
            <a:avLst/>
          </a:prstGeom>
          <a:noFill/>
          <a:ln w="0">
            <a:noFill/>
          </a:ln>
        </p:spPr>
        <p:txBody>
          <a:bodyPr wrap="square" lIns="0" tIns="0" rIns="0" bIns="0" anchor="t">
            <a:noAutofit/>
          </a:bodyPr>
          <a:lstStyle/>
          <a:p>
            <a:pPr>
              <a:defRPr sz="1450" b="0">
                <a:solidFill>
                  <a:srgbClr val="627185"/>
                </a:solidFill>
                <a:latin typeface="Calibri"/>
                <a:ea typeface="Calibri"/>
                <a:cs typeface="Calibri"/>
              </a:defRPr>
            </a:pPr>
            <a:r>
              <a:rPr lang="en-US" sz="2000" dirty="0">
                <a:solidFill>
                  <a:srgbClr val="627185"/>
                </a:solidFill>
                <a:latin typeface="Calibri"/>
              </a:rPr>
              <a:t>Compare 5G and 6G using graphs and performance metrics.</a:t>
            </a:r>
            <a:endParaRPr sz="2000" b="0" dirty="0">
              <a:solidFill>
                <a:srgbClr val="627185"/>
              </a:solidFill>
              <a:latin typeface="Calibri"/>
              <a:ea typeface="Calibri"/>
              <a:cs typeface="Calibri"/>
            </a:endParaRPr>
          </a:p>
        </p:txBody>
      </p:sp>
      <p:sp>
        <p:nvSpPr>
          <p:cNvPr id="30" name="Solution architecture figure"/>
          <p:cNvSpPr/>
          <p:nvPr/>
        </p:nvSpPr>
        <p:spPr>
          <a:xfrm>
            <a:off x="666750" y="2819400"/>
            <a:ext cx="5969000" cy="3124200"/>
          </a:xfrm>
          <a:prstGeom prst="rect">
            <a:avLst/>
          </a:prstGeom>
          <a:solidFill>
            <a:srgbClr val="FFFFFF"/>
          </a:solidFill>
          <a:ln w="9525">
            <a:solidFill>
              <a:srgbClr val="A9BBC9"/>
            </a:solidFill>
            <a:prstDash val="dash"/>
          </a:ln>
        </p:spPr>
        <p:txBody>
          <a:bodyPr wrap="square" lIns="182880" tIns="91440" rIns="182880" bIns="91440" anchor="ctr">
            <a:noAutofit/>
          </a:bodyPr>
          <a:lstStyle/>
          <a:p>
            <a:pPr algn="ctr"/>
            <a:r>
              <a:rPr lang="en-US" sz="2400" b="0" dirty="0">
                <a:solidFill>
                  <a:srgbClr val="627185"/>
                </a:solidFill>
                <a:latin typeface="Calibri"/>
                <a:ea typeface="Calibri"/>
                <a:cs typeface="Calibri"/>
              </a:rPr>
              <a:t>[Insert </a:t>
            </a:r>
            <a:r>
              <a:rPr lang="en-US" sz="2400" b="0" dirty="0">
                <a:solidFill>
                  <a:srgbClr val="627185"/>
                </a:solidFill>
                <a:latin typeface="Calibri" panose="020F0502020204030204" pitchFamily="34" charset="0"/>
                <a:ea typeface="Calibri" panose="020F0502020204030204" pitchFamily="34" charset="0"/>
                <a:cs typeface="Calibri" panose="020F0502020204030204" pitchFamily="34" charset="0"/>
              </a:rPr>
              <a:t>the</a:t>
            </a:r>
            <a:r>
              <a:rPr lang="en-US" sz="2400" b="0" dirty="0">
                <a:solidFill>
                  <a:srgbClr val="627185"/>
                </a:solidFill>
                <a:latin typeface="Calibri"/>
                <a:ea typeface="Calibri"/>
                <a:cs typeface="Calibri"/>
              </a:rPr>
              <a:t> solution architecture or core model]</a:t>
            </a:r>
          </a:p>
        </p:txBody>
      </p:sp>
      <p:pic>
        <p:nvPicPr>
          <p:cNvPr id="3" name="Picture 2">
            <a:extLst>
              <a:ext uri="{FF2B5EF4-FFF2-40B4-BE49-F238E27FC236}">
                <a16:creationId xmlns:a16="http://schemas.microsoft.com/office/drawing/2014/main" id="{AF048FA0-6DDA-269C-0F99-C4B1FBF9551A}"/>
              </a:ext>
            </a:extLst>
          </p:cNvPr>
          <p:cNvPicPr>
            <a:picLocks noChangeAspect="1"/>
          </p:cNvPicPr>
          <p:nvPr/>
        </p:nvPicPr>
        <p:blipFill>
          <a:blip r:embed="rId3"/>
          <a:stretch>
            <a:fillRect/>
          </a:stretch>
        </p:blipFill>
        <p:spPr>
          <a:xfrm>
            <a:off x="666750" y="2830286"/>
            <a:ext cx="5969000" cy="3258468"/>
          </a:xfrm>
          <a:prstGeom prst="rect">
            <a:avLst/>
          </a:prstGeom>
        </p:spPr>
      </p:pic>
      <p:pic>
        <p:nvPicPr>
          <p:cNvPr id="25" name="Picture 24" descr="image.png">
            <a:extLst>
              <a:ext uri="{FF2B5EF4-FFF2-40B4-BE49-F238E27FC236}">
                <a16:creationId xmlns:a16="http://schemas.microsoft.com/office/drawing/2014/main" id="{3E9457E8-F8CA-2B52-6E65-E674038EED78}"/>
              </a:ext>
            </a:extLst>
          </p:cNvPr>
          <p:cNvPicPr>
            <a:picLocks noChangeAspect="1"/>
          </p:cNvPicPr>
          <p:nvPr/>
        </p:nvPicPr>
        <p:blipFill>
          <a:blip r:embed="rId4"/>
          <a:stretch>
            <a:fillRect/>
          </a:stretch>
        </p:blipFill>
        <p:spPr>
          <a:xfrm>
            <a:off x="10950688" y="75407"/>
            <a:ext cx="1187224" cy="1163637"/>
          </a:xfrm>
          <a:prstGeom prst="rect">
            <a:avLst/>
          </a:prstGeom>
        </p:spPr>
      </p:pic>
    </p:spTree>
    <p:extLst>
      <p:ext uri="{BB962C8B-B14F-4D97-AF65-F5344CB8AC3E}">
        <p14:creationId xmlns:p14="http://schemas.microsoft.com/office/powerpoint/2010/main" val="2162839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Experimental setup">
            <a:extLst>
              <a:ext uri="{FF2B5EF4-FFF2-40B4-BE49-F238E27FC236}">
                <a16:creationId xmlns:a16="http://schemas.microsoft.com/office/drawing/2014/main" id="{4C4522FD-BC14-4E62-8DC7-E0B7E34ABF36}"/>
              </a:ext>
            </a:extLst>
          </p:cNvPr>
          <p:cNvSpPr>
            <a:spLocks noGrp="1"/>
          </p:cNvSpPr>
          <p:nvPr/>
        </p:nvSpPr>
        <p:spPr>
          <a:xfrm>
            <a:off x="647700" y="1181100"/>
            <a:ext cx="10810875" cy="628650"/>
          </a:xfrm>
          <a:prstGeom prst="rect">
            <a:avLst/>
          </a:prstGeom>
          <a:noFill/>
          <a:ln w="0">
            <a:noFill/>
          </a:ln>
        </p:spPr>
        <p:txBody>
          <a:bodyPr wrap="square" lIns="0" tIns="0" rIns="0" bIns="0" anchor="t">
            <a:noAutofit/>
          </a:bodyPr>
          <a:lstStyle/>
          <a:p>
            <a:pPr>
              <a:defRPr sz="2900" b="1">
                <a:solidFill>
                  <a:srgbClr val="12263D"/>
                </a:solidFill>
                <a:latin typeface="Calibri"/>
                <a:ea typeface="Calibri"/>
                <a:cs typeface="Calibri"/>
              </a:defRPr>
            </a:pPr>
            <a:r>
              <a:rPr sz="3600" b="1" dirty="0">
                <a:solidFill>
                  <a:srgbClr val="12263D"/>
                </a:solidFill>
                <a:latin typeface="Calibri"/>
                <a:ea typeface="Calibri"/>
                <a:cs typeface="Calibri"/>
              </a:rPr>
              <a:t>Experimental </a:t>
            </a:r>
            <a:r>
              <a:rPr lang="en-US" sz="3600" b="1" dirty="0">
                <a:solidFill>
                  <a:srgbClr val="12263D"/>
                </a:solidFill>
                <a:latin typeface="Calibri"/>
                <a:ea typeface="Calibri"/>
                <a:cs typeface="Calibri"/>
              </a:rPr>
              <a:t>S</a:t>
            </a:r>
            <a:r>
              <a:rPr sz="3600" b="1" dirty="0">
                <a:solidFill>
                  <a:srgbClr val="12263D"/>
                </a:solidFill>
                <a:latin typeface="Calibri"/>
                <a:ea typeface="Calibri"/>
                <a:cs typeface="Calibri"/>
              </a:rPr>
              <a:t>etup</a:t>
            </a:r>
          </a:p>
        </p:txBody>
      </p:sp>
      <p:sp>
        <p:nvSpPr>
          <p:cNvPr id="7" name="Straight Connector 6">
            <a:extLst>
              <a:ext uri="{FF2B5EF4-FFF2-40B4-BE49-F238E27FC236}">
                <a16:creationId xmlns:a16="http://schemas.microsoft.com/office/drawing/2014/main" id="{67647916-6C43-48E0-82AA-947880EB8D46}"/>
              </a:ext>
            </a:extLst>
          </p:cNvPr>
          <p:cNvSpPr>
            <a:spLocks noGrp="1"/>
          </p:cNvSpPr>
          <p:nvPr/>
        </p:nvSpPr>
        <p:spPr>
          <a:xfrm>
            <a:off x="647700" y="1933575"/>
            <a:ext cx="10896600" cy="0"/>
          </a:xfrm>
          <a:prstGeom prst="line">
            <a:avLst/>
          </a:prstGeom>
          <a:noFill/>
          <a:ln w="9525">
            <a:solidFill>
              <a:srgbClr val="D7E1E9"/>
            </a:solidFill>
          </a:ln>
        </p:spPr>
        <p:txBody>
          <a:bodyPr/>
          <a:lstStyle/>
          <a:p>
            <a:endParaRPr lang="en-GB" sz="2400"/>
          </a:p>
        </p:txBody>
      </p:sp>
      <p:sp>
        <p:nvSpPr>
          <p:cNvPr id="8" name="Straight Connector 7">
            <a:extLst>
              <a:ext uri="{FF2B5EF4-FFF2-40B4-BE49-F238E27FC236}">
                <a16:creationId xmlns:a16="http://schemas.microsoft.com/office/drawing/2014/main" id="{8EC3A778-E9F6-4FD3-8B2C-85DCDC53AA02}"/>
              </a:ext>
            </a:extLst>
          </p:cNvPr>
          <p:cNvSpPr>
            <a:spLocks noGrp="1"/>
          </p:cNvSpPr>
          <p:nvPr/>
        </p:nvSpPr>
        <p:spPr>
          <a:xfrm>
            <a:off x="647700" y="6238875"/>
            <a:ext cx="10896600" cy="0"/>
          </a:xfrm>
          <a:prstGeom prst="line">
            <a:avLst/>
          </a:prstGeom>
          <a:noFill/>
          <a:ln w="9525">
            <a:solidFill>
              <a:srgbClr val="D7E1E9"/>
            </a:solidFill>
          </a:ln>
        </p:spPr>
        <p:txBody>
          <a:bodyPr/>
          <a:lstStyle/>
          <a:p>
            <a:endParaRPr lang="en-GB" sz="2000"/>
          </a:p>
        </p:txBody>
      </p:sp>
      <p:sp>
        <p:nvSpPr>
          <p:cNvPr id="9" name="[Short paper title]">
            <a:extLst>
              <a:ext uri="{FF2B5EF4-FFF2-40B4-BE49-F238E27FC236}">
                <a16:creationId xmlns:a16="http://schemas.microsoft.com/office/drawing/2014/main" id="{3D8F2DCC-C25A-4B8D-AE8E-EF919CA84DE2}"/>
              </a:ext>
            </a:extLst>
          </p:cNvPr>
          <p:cNvSpPr>
            <a:spLocks noGrp="1"/>
          </p:cNvSpPr>
          <p:nvPr/>
        </p:nvSpPr>
        <p:spPr>
          <a:xfrm>
            <a:off x="647700" y="6419850"/>
            <a:ext cx="6429375"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r>
              <a:rPr lang="en-US" sz="2000" dirty="0">
                <a:solidFill>
                  <a:srgbClr val="627185"/>
                </a:solidFill>
                <a:latin typeface="Calibri"/>
              </a:rPr>
              <a:t>6G Architecture &amp; Requirements</a:t>
            </a:r>
            <a:endParaRPr lang="en-US" sz="2000" dirty="0">
              <a:solidFill>
                <a:srgbClr val="627185"/>
              </a:solidFill>
              <a:latin typeface="Calibri"/>
              <a:ea typeface="Calibri"/>
              <a:cs typeface="Calibri"/>
            </a:endParaRPr>
          </a:p>
        </p:txBody>
      </p:sp>
      <p:sp>
        <p:nvSpPr>
          <p:cNvPr id="10" name="Paper ID: [000]">
            <a:extLst>
              <a:ext uri="{FF2B5EF4-FFF2-40B4-BE49-F238E27FC236}">
                <a16:creationId xmlns:a16="http://schemas.microsoft.com/office/drawing/2014/main" id="{283E6B27-15A5-46F3-8B10-7C80A8692186}"/>
              </a:ext>
            </a:extLst>
          </p:cNvPr>
          <p:cNvSpPr>
            <a:spLocks noGrp="1"/>
          </p:cNvSpPr>
          <p:nvPr/>
        </p:nvSpPr>
        <p:spPr>
          <a:xfrm>
            <a:off x="8905875" y="6419850"/>
            <a:ext cx="2000250"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endParaRPr sz="2000" b="0" dirty="0">
              <a:solidFill>
                <a:srgbClr val="627185"/>
              </a:solidFill>
              <a:latin typeface="Calibri"/>
              <a:ea typeface="Calibri"/>
              <a:cs typeface="Calibri"/>
            </a:endParaRPr>
          </a:p>
        </p:txBody>
      </p:sp>
      <p:sp>
        <p:nvSpPr>
          <p:cNvPr id="11" name="07">
            <a:extLst>
              <a:ext uri="{FF2B5EF4-FFF2-40B4-BE49-F238E27FC236}">
                <a16:creationId xmlns:a16="http://schemas.microsoft.com/office/drawing/2014/main" id="{67CFE318-73F6-40BF-A9D4-6AD33D152AE2}"/>
              </a:ext>
            </a:extLst>
          </p:cNvPr>
          <p:cNvSpPr>
            <a:spLocks noGrp="1"/>
          </p:cNvSpPr>
          <p:nvPr/>
        </p:nvSpPr>
        <p:spPr>
          <a:xfrm>
            <a:off x="11125200" y="6419850"/>
            <a:ext cx="419100" cy="219075"/>
          </a:xfrm>
          <a:prstGeom prst="rect">
            <a:avLst/>
          </a:prstGeom>
          <a:noFill/>
          <a:ln w="0">
            <a:noFill/>
          </a:ln>
        </p:spPr>
        <p:txBody>
          <a:bodyPr wrap="square" lIns="0" tIns="0" rIns="0" bIns="0" anchor="t">
            <a:noAutofit/>
          </a:bodyPr>
          <a:lstStyle/>
          <a:p>
            <a:pPr>
              <a:defRPr sz="1000" b="1">
                <a:solidFill>
                  <a:srgbClr val="0067A6"/>
                </a:solidFill>
                <a:latin typeface="Calibri"/>
                <a:ea typeface="Calibri"/>
                <a:cs typeface="Calibri"/>
              </a:defRPr>
            </a:pPr>
            <a:r>
              <a:rPr sz="2000" b="1">
                <a:solidFill>
                  <a:srgbClr val="0067A6"/>
                </a:solidFill>
                <a:latin typeface="Calibri"/>
                <a:ea typeface="Calibri"/>
                <a:cs typeface="Calibri"/>
              </a:rPr>
              <a:t>06</a:t>
            </a:r>
          </a:p>
        </p:txBody>
      </p:sp>
      <p:sp>
        <p:nvSpPr>
          <p:cNvPr id="12" name="Data / study setting">
            <a:extLst>
              <a:ext uri="{FF2B5EF4-FFF2-40B4-BE49-F238E27FC236}">
                <a16:creationId xmlns:a16="http://schemas.microsoft.com/office/drawing/2014/main" id="{B761308C-DF9C-49F9-BB9E-6A110E82B60A}"/>
              </a:ext>
            </a:extLst>
          </p:cNvPr>
          <p:cNvSpPr>
            <a:spLocks noGrp="1"/>
          </p:cNvSpPr>
          <p:nvPr/>
        </p:nvSpPr>
        <p:spPr>
          <a:xfrm>
            <a:off x="666750" y="2152650"/>
            <a:ext cx="3476625" cy="619125"/>
          </a:xfrm>
          <a:prstGeom prst="rect">
            <a:avLst/>
          </a:prstGeom>
          <a:noFill/>
          <a:ln w="0">
            <a:noFill/>
          </a:ln>
        </p:spPr>
        <p:txBody>
          <a:bodyPr wrap="square" lIns="0" tIns="0" rIns="0" bIns="0" anchor="t">
            <a:noAutofit/>
          </a:bodyPr>
          <a:lstStyle/>
          <a:p>
            <a:pPr>
              <a:defRPr sz="1800" b="1">
                <a:solidFill>
                  <a:srgbClr val="0067A6"/>
                </a:solidFill>
                <a:latin typeface="Calibri"/>
                <a:ea typeface="Calibri"/>
                <a:cs typeface="Calibri"/>
              </a:defRPr>
            </a:pPr>
            <a:r>
              <a:rPr sz="2400" b="1">
                <a:solidFill>
                  <a:srgbClr val="0067A6"/>
                </a:solidFill>
                <a:latin typeface="Calibri"/>
                <a:ea typeface="Calibri"/>
                <a:cs typeface="Calibri"/>
              </a:rPr>
              <a:t>Data / study setting</a:t>
            </a:r>
          </a:p>
        </p:txBody>
      </p:sp>
      <p:sp>
        <p:nvSpPr>
          <p:cNvPr id="13" name="[Dataset, sample size and split]">
            <a:extLst>
              <a:ext uri="{FF2B5EF4-FFF2-40B4-BE49-F238E27FC236}">
                <a16:creationId xmlns:a16="http://schemas.microsoft.com/office/drawing/2014/main" id="{E3BFCD95-6147-4B93-815A-44C543AD8FD2}"/>
              </a:ext>
            </a:extLst>
          </p:cNvPr>
          <p:cNvSpPr>
            <a:spLocks noGrp="1"/>
          </p:cNvSpPr>
          <p:nvPr/>
        </p:nvSpPr>
        <p:spPr>
          <a:xfrm>
            <a:off x="4476750" y="2033588"/>
            <a:ext cx="6953250" cy="704850"/>
          </a:xfrm>
          <a:prstGeom prst="rect">
            <a:avLst/>
          </a:prstGeom>
          <a:noFill/>
          <a:ln w="0">
            <a:noFill/>
          </a:ln>
        </p:spPr>
        <p:txBody>
          <a:bodyPr wrap="square" lIns="0" tIns="0" rIns="0" bIns="0" anchor="t">
            <a:noAutofit/>
          </a:bodyPr>
          <a:lstStyle/>
          <a:p>
            <a:r>
              <a:rPr lang="en-US" sz="2400" dirty="0"/>
              <a:t>Simulated network conditions using 28 GHz and 100–300 GHz frequency bands.</a:t>
            </a:r>
          </a:p>
        </p:txBody>
      </p:sp>
      <p:sp>
        <p:nvSpPr>
          <p:cNvPr id="14" name="Straight Connector 13">
            <a:extLst>
              <a:ext uri="{FF2B5EF4-FFF2-40B4-BE49-F238E27FC236}">
                <a16:creationId xmlns:a16="http://schemas.microsoft.com/office/drawing/2014/main" id="{5D61A1FD-5907-4284-87A9-31CC6C557445}"/>
              </a:ext>
            </a:extLst>
          </p:cNvPr>
          <p:cNvSpPr>
            <a:spLocks noGrp="1"/>
          </p:cNvSpPr>
          <p:nvPr/>
        </p:nvSpPr>
        <p:spPr>
          <a:xfrm>
            <a:off x="666750" y="2895600"/>
            <a:ext cx="10820400" cy="0"/>
          </a:xfrm>
          <a:prstGeom prst="line">
            <a:avLst/>
          </a:prstGeom>
          <a:noFill/>
          <a:ln w="9525">
            <a:solidFill>
              <a:srgbClr val="D7E1E9"/>
            </a:solidFill>
          </a:ln>
        </p:spPr>
        <p:txBody>
          <a:bodyPr/>
          <a:lstStyle/>
          <a:p>
            <a:endParaRPr lang="en-GB" sz="2400"/>
          </a:p>
        </p:txBody>
      </p:sp>
      <p:sp>
        <p:nvSpPr>
          <p:cNvPr id="15" name="Baselines / comparisons">
            <a:extLst>
              <a:ext uri="{FF2B5EF4-FFF2-40B4-BE49-F238E27FC236}">
                <a16:creationId xmlns:a16="http://schemas.microsoft.com/office/drawing/2014/main" id="{1870270F-AF35-4C90-9A93-250EBF19BDA4}"/>
              </a:ext>
            </a:extLst>
          </p:cNvPr>
          <p:cNvSpPr>
            <a:spLocks noGrp="1"/>
          </p:cNvSpPr>
          <p:nvPr/>
        </p:nvSpPr>
        <p:spPr>
          <a:xfrm>
            <a:off x="666750" y="3057525"/>
            <a:ext cx="3476625" cy="619125"/>
          </a:xfrm>
          <a:prstGeom prst="rect">
            <a:avLst/>
          </a:prstGeom>
          <a:noFill/>
          <a:ln w="0">
            <a:noFill/>
          </a:ln>
        </p:spPr>
        <p:txBody>
          <a:bodyPr wrap="square" lIns="0" tIns="0" rIns="0" bIns="0" anchor="t">
            <a:noAutofit/>
          </a:bodyPr>
          <a:lstStyle/>
          <a:p>
            <a:pPr>
              <a:defRPr sz="1800" b="1">
                <a:solidFill>
                  <a:srgbClr val="0067A6"/>
                </a:solidFill>
                <a:latin typeface="Calibri"/>
                <a:ea typeface="Calibri"/>
                <a:cs typeface="Calibri"/>
              </a:defRPr>
            </a:pPr>
            <a:r>
              <a:rPr sz="2400" b="1">
                <a:solidFill>
                  <a:srgbClr val="0067A6"/>
                </a:solidFill>
                <a:latin typeface="Calibri"/>
                <a:ea typeface="Calibri"/>
                <a:cs typeface="Calibri"/>
              </a:rPr>
              <a:t>Baselines / comparisons</a:t>
            </a:r>
          </a:p>
        </p:txBody>
      </p:sp>
      <p:sp>
        <p:nvSpPr>
          <p:cNvPr id="16" name="[Methods and fair comparison settings]">
            <a:extLst>
              <a:ext uri="{FF2B5EF4-FFF2-40B4-BE49-F238E27FC236}">
                <a16:creationId xmlns:a16="http://schemas.microsoft.com/office/drawing/2014/main" id="{35D048CF-BCD8-4BFF-9450-EA4AC3DBBE62}"/>
              </a:ext>
            </a:extLst>
          </p:cNvPr>
          <p:cNvSpPr>
            <a:spLocks noGrp="1"/>
          </p:cNvSpPr>
          <p:nvPr/>
        </p:nvSpPr>
        <p:spPr>
          <a:xfrm>
            <a:off x="4476750" y="3001736"/>
            <a:ext cx="6953250" cy="704850"/>
          </a:xfrm>
          <a:prstGeom prst="rect">
            <a:avLst/>
          </a:prstGeom>
          <a:noFill/>
          <a:ln w="0">
            <a:noFill/>
          </a:ln>
        </p:spPr>
        <p:txBody>
          <a:bodyPr wrap="square" lIns="0" tIns="0" rIns="0" bIns="0" anchor="t">
            <a:noAutofit/>
          </a:bodyPr>
          <a:lstStyle/>
          <a:p>
            <a:r>
              <a:rPr lang="en-US" sz="2400" dirty="0"/>
              <a:t>Traditional 5G network vs. 5G-Advanced vs. integrated 6G architecture.</a:t>
            </a:r>
          </a:p>
        </p:txBody>
      </p:sp>
      <p:sp>
        <p:nvSpPr>
          <p:cNvPr id="17" name="Straight Connector 16">
            <a:extLst>
              <a:ext uri="{FF2B5EF4-FFF2-40B4-BE49-F238E27FC236}">
                <a16:creationId xmlns:a16="http://schemas.microsoft.com/office/drawing/2014/main" id="{E4AEC791-3789-4E4D-963F-6C61A46959A1}"/>
              </a:ext>
            </a:extLst>
          </p:cNvPr>
          <p:cNvSpPr>
            <a:spLocks noGrp="1"/>
          </p:cNvSpPr>
          <p:nvPr/>
        </p:nvSpPr>
        <p:spPr>
          <a:xfrm>
            <a:off x="666750" y="3800475"/>
            <a:ext cx="10820400" cy="0"/>
          </a:xfrm>
          <a:prstGeom prst="line">
            <a:avLst/>
          </a:prstGeom>
          <a:noFill/>
          <a:ln w="9525">
            <a:solidFill>
              <a:srgbClr val="D7E1E9"/>
            </a:solidFill>
          </a:ln>
        </p:spPr>
        <p:txBody>
          <a:bodyPr/>
          <a:lstStyle/>
          <a:p>
            <a:endParaRPr lang="en-GB" sz="2400"/>
          </a:p>
        </p:txBody>
      </p:sp>
      <p:sp>
        <p:nvSpPr>
          <p:cNvPr id="18" name="Evaluation metrics">
            <a:extLst>
              <a:ext uri="{FF2B5EF4-FFF2-40B4-BE49-F238E27FC236}">
                <a16:creationId xmlns:a16="http://schemas.microsoft.com/office/drawing/2014/main" id="{CEAFF3CC-53FC-4852-A42E-B8968A87C3EC}"/>
              </a:ext>
            </a:extLst>
          </p:cNvPr>
          <p:cNvSpPr>
            <a:spLocks noGrp="1"/>
          </p:cNvSpPr>
          <p:nvPr/>
        </p:nvSpPr>
        <p:spPr>
          <a:xfrm>
            <a:off x="666750" y="3962400"/>
            <a:ext cx="3476625" cy="619125"/>
          </a:xfrm>
          <a:prstGeom prst="rect">
            <a:avLst/>
          </a:prstGeom>
          <a:noFill/>
          <a:ln w="0">
            <a:noFill/>
          </a:ln>
        </p:spPr>
        <p:txBody>
          <a:bodyPr wrap="square" lIns="0" tIns="0" rIns="0" bIns="0" anchor="t">
            <a:noAutofit/>
          </a:bodyPr>
          <a:lstStyle/>
          <a:p>
            <a:pPr>
              <a:defRPr sz="1800" b="1">
                <a:solidFill>
                  <a:srgbClr val="0067A6"/>
                </a:solidFill>
                <a:latin typeface="Calibri"/>
                <a:ea typeface="Calibri"/>
                <a:cs typeface="Calibri"/>
              </a:defRPr>
            </a:pPr>
            <a:r>
              <a:rPr sz="2400" b="1">
                <a:solidFill>
                  <a:srgbClr val="0067A6"/>
                </a:solidFill>
                <a:latin typeface="Calibri"/>
                <a:ea typeface="Calibri"/>
                <a:cs typeface="Calibri"/>
              </a:rPr>
              <a:t>Evaluation metrics</a:t>
            </a:r>
          </a:p>
        </p:txBody>
      </p:sp>
      <p:sp>
        <p:nvSpPr>
          <p:cNvPr id="19" name="[Metric definitions and units]">
            <a:extLst>
              <a:ext uri="{FF2B5EF4-FFF2-40B4-BE49-F238E27FC236}">
                <a16:creationId xmlns:a16="http://schemas.microsoft.com/office/drawing/2014/main" id="{0C74C494-5D7E-4983-AF8E-F44F5B1FDD16}"/>
              </a:ext>
            </a:extLst>
          </p:cNvPr>
          <p:cNvSpPr>
            <a:spLocks noGrp="1"/>
          </p:cNvSpPr>
          <p:nvPr/>
        </p:nvSpPr>
        <p:spPr>
          <a:xfrm>
            <a:off x="4476750" y="3918857"/>
            <a:ext cx="6953250" cy="704850"/>
          </a:xfrm>
          <a:prstGeom prst="rect">
            <a:avLst/>
          </a:prstGeom>
          <a:noFill/>
          <a:ln w="0">
            <a:noFill/>
          </a:ln>
        </p:spPr>
        <p:txBody>
          <a:bodyPr wrap="square" lIns="0" tIns="0" rIns="0" bIns="0" anchor="t">
            <a:noAutofit/>
          </a:bodyPr>
          <a:lstStyle/>
          <a:p>
            <a:pPr lvl="0"/>
            <a:r>
              <a:rPr lang="en-US" sz="2400" dirty="0"/>
              <a:t>Peak Data Rate, Latency, Reliability, Connection Density, Energy Efficiency.</a:t>
            </a:r>
          </a:p>
        </p:txBody>
      </p:sp>
      <p:sp>
        <p:nvSpPr>
          <p:cNvPr id="20" name="Straight Connector 19">
            <a:extLst>
              <a:ext uri="{FF2B5EF4-FFF2-40B4-BE49-F238E27FC236}">
                <a16:creationId xmlns:a16="http://schemas.microsoft.com/office/drawing/2014/main" id="{AFC9C8A3-9747-46B1-9E4B-1B9316126DD0}"/>
              </a:ext>
            </a:extLst>
          </p:cNvPr>
          <p:cNvSpPr>
            <a:spLocks noGrp="1"/>
          </p:cNvSpPr>
          <p:nvPr/>
        </p:nvSpPr>
        <p:spPr>
          <a:xfrm>
            <a:off x="666750" y="4705350"/>
            <a:ext cx="10820400" cy="0"/>
          </a:xfrm>
          <a:prstGeom prst="line">
            <a:avLst/>
          </a:prstGeom>
          <a:noFill/>
          <a:ln w="9525">
            <a:solidFill>
              <a:srgbClr val="D7E1E9"/>
            </a:solidFill>
          </a:ln>
        </p:spPr>
        <p:txBody>
          <a:bodyPr/>
          <a:lstStyle/>
          <a:p>
            <a:endParaRPr lang="en-GB" sz="2400"/>
          </a:p>
        </p:txBody>
      </p:sp>
      <p:sp>
        <p:nvSpPr>
          <p:cNvPr id="21" name="Implementation / protocol">
            <a:extLst>
              <a:ext uri="{FF2B5EF4-FFF2-40B4-BE49-F238E27FC236}">
                <a16:creationId xmlns:a16="http://schemas.microsoft.com/office/drawing/2014/main" id="{EC173211-A1A8-40A4-BE28-7080284B0476}"/>
              </a:ext>
            </a:extLst>
          </p:cNvPr>
          <p:cNvSpPr>
            <a:spLocks noGrp="1"/>
          </p:cNvSpPr>
          <p:nvPr/>
        </p:nvSpPr>
        <p:spPr>
          <a:xfrm>
            <a:off x="666750" y="4867275"/>
            <a:ext cx="3476625" cy="619125"/>
          </a:xfrm>
          <a:prstGeom prst="rect">
            <a:avLst/>
          </a:prstGeom>
          <a:noFill/>
          <a:ln w="0">
            <a:noFill/>
          </a:ln>
        </p:spPr>
        <p:txBody>
          <a:bodyPr wrap="square" lIns="0" tIns="0" rIns="0" bIns="0" anchor="t">
            <a:noAutofit/>
          </a:bodyPr>
          <a:lstStyle/>
          <a:p>
            <a:pPr>
              <a:defRPr sz="1800" b="1">
                <a:solidFill>
                  <a:srgbClr val="0067A6"/>
                </a:solidFill>
                <a:latin typeface="Calibri"/>
                <a:ea typeface="Calibri"/>
                <a:cs typeface="Calibri"/>
              </a:defRPr>
            </a:pPr>
            <a:r>
              <a:rPr sz="2400" b="1">
                <a:solidFill>
                  <a:srgbClr val="0067A6"/>
                </a:solidFill>
                <a:latin typeface="Calibri"/>
                <a:ea typeface="Calibri"/>
                <a:cs typeface="Calibri"/>
              </a:rPr>
              <a:t>Implementation / protocol</a:t>
            </a:r>
          </a:p>
        </p:txBody>
      </p:sp>
      <p:sp>
        <p:nvSpPr>
          <p:cNvPr id="22" name="[Hardware, seeds or study procedure]">
            <a:extLst>
              <a:ext uri="{FF2B5EF4-FFF2-40B4-BE49-F238E27FC236}">
                <a16:creationId xmlns:a16="http://schemas.microsoft.com/office/drawing/2014/main" id="{89823C04-B5AA-4A1B-AC4F-4CAAE38F54AA}"/>
              </a:ext>
            </a:extLst>
          </p:cNvPr>
          <p:cNvSpPr>
            <a:spLocks noGrp="1"/>
          </p:cNvSpPr>
          <p:nvPr/>
        </p:nvSpPr>
        <p:spPr>
          <a:xfrm>
            <a:off x="4476750" y="4867275"/>
            <a:ext cx="6953250" cy="704850"/>
          </a:xfrm>
          <a:prstGeom prst="rect">
            <a:avLst/>
          </a:prstGeom>
          <a:noFill/>
          <a:ln w="0">
            <a:noFill/>
          </a:ln>
        </p:spPr>
        <p:txBody>
          <a:bodyPr wrap="square" lIns="0" tIns="0" rIns="0" bIns="0" anchor="t">
            <a:noAutofit/>
          </a:bodyPr>
          <a:lstStyle/>
          <a:p>
            <a:r>
              <a:rPr lang="en-US" sz="2400" dirty="0"/>
              <a:t>Python or MATLAB simulations using suitable propagation models and published 5G/6G standards.</a:t>
            </a:r>
          </a:p>
        </p:txBody>
      </p:sp>
      <p:pic>
        <p:nvPicPr>
          <p:cNvPr id="3" name="Picture 2" descr="image.png">
            <a:extLst>
              <a:ext uri="{FF2B5EF4-FFF2-40B4-BE49-F238E27FC236}">
                <a16:creationId xmlns:a16="http://schemas.microsoft.com/office/drawing/2014/main" id="{C2A8825A-3E9C-C375-04DB-DD74B81B3B89}"/>
              </a:ext>
            </a:extLst>
          </p:cNvPr>
          <p:cNvPicPr>
            <a:picLocks noChangeAspect="1"/>
          </p:cNvPicPr>
          <p:nvPr/>
        </p:nvPicPr>
        <p:blipFill>
          <a:blip r:embed="rId3"/>
          <a:stretch>
            <a:fillRect/>
          </a:stretch>
        </p:blipFill>
        <p:spPr>
          <a:xfrm>
            <a:off x="10950688" y="75407"/>
            <a:ext cx="1187224" cy="1163637"/>
          </a:xfrm>
          <a:prstGeom prst="rect">
            <a:avLst/>
          </a:prstGeom>
        </p:spPr>
      </p:pic>
    </p:spTree>
    <p:extLst>
      <p:ext uri="{BB962C8B-B14F-4D97-AF65-F5344CB8AC3E}">
        <p14:creationId xmlns:p14="http://schemas.microsoft.com/office/powerpoint/2010/main" val="626074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sults and discussion">
            <a:extLst>
              <a:ext uri="{FF2B5EF4-FFF2-40B4-BE49-F238E27FC236}">
                <a16:creationId xmlns:a16="http://schemas.microsoft.com/office/drawing/2014/main" id="{CF3C6489-8B24-4858-9567-DFF21F75D075}"/>
              </a:ext>
            </a:extLst>
          </p:cNvPr>
          <p:cNvSpPr>
            <a:spLocks noGrp="1"/>
          </p:cNvSpPr>
          <p:nvPr/>
        </p:nvSpPr>
        <p:spPr>
          <a:xfrm>
            <a:off x="647700" y="740177"/>
            <a:ext cx="10810875" cy="628650"/>
          </a:xfrm>
          <a:prstGeom prst="rect">
            <a:avLst/>
          </a:prstGeom>
          <a:noFill/>
          <a:ln w="0">
            <a:noFill/>
          </a:ln>
        </p:spPr>
        <p:txBody>
          <a:bodyPr wrap="square" lIns="0" tIns="0" rIns="0" bIns="0" anchor="t">
            <a:noAutofit/>
          </a:bodyPr>
          <a:lstStyle/>
          <a:p>
            <a:pPr>
              <a:defRPr sz="2900" b="1">
                <a:solidFill>
                  <a:srgbClr val="12263D"/>
                </a:solidFill>
                <a:latin typeface="Calibri"/>
                <a:ea typeface="Calibri"/>
                <a:cs typeface="Calibri"/>
              </a:defRPr>
            </a:pPr>
            <a:r>
              <a:rPr sz="3600" b="1" dirty="0">
                <a:solidFill>
                  <a:srgbClr val="12263D"/>
                </a:solidFill>
                <a:latin typeface="Calibri"/>
                <a:ea typeface="Calibri"/>
                <a:cs typeface="Calibri"/>
              </a:rPr>
              <a:t>Results and </a:t>
            </a:r>
            <a:r>
              <a:rPr lang="en-US" sz="3600" b="1" dirty="0">
                <a:solidFill>
                  <a:srgbClr val="12263D"/>
                </a:solidFill>
                <a:latin typeface="Calibri"/>
                <a:ea typeface="Calibri"/>
                <a:cs typeface="Calibri"/>
              </a:rPr>
              <a:t>D</a:t>
            </a:r>
            <a:r>
              <a:rPr sz="3600" b="1" dirty="0">
                <a:solidFill>
                  <a:srgbClr val="12263D"/>
                </a:solidFill>
                <a:latin typeface="Calibri"/>
                <a:ea typeface="Calibri"/>
                <a:cs typeface="Calibri"/>
              </a:rPr>
              <a:t>iscussion</a:t>
            </a:r>
          </a:p>
        </p:txBody>
      </p:sp>
      <p:sp>
        <p:nvSpPr>
          <p:cNvPr id="7" name="Straight Connector 6">
            <a:extLst>
              <a:ext uri="{FF2B5EF4-FFF2-40B4-BE49-F238E27FC236}">
                <a16:creationId xmlns:a16="http://schemas.microsoft.com/office/drawing/2014/main" id="{D3946742-9F7A-4DC6-B9F2-F6827ECDF620}"/>
              </a:ext>
            </a:extLst>
          </p:cNvPr>
          <p:cNvSpPr>
            <a:spLocks noGrp="1"/>
          </p:cNvSpPr>
          <p:nvPr/>
        </p:nvSpPr>
        <p:spPr>
          <a:xfrm>
            <a:off x="647700" y="1933575"/>
            <a:ext cx="10896600" cy="0"/>
          </a:xfrm>
          <a:prstGeom prst="line">
            <a:avLst/>
          </a:prstGeom>
          <a:noFill/>
          <a:ln w="9525">
            <a:solidFill>
              <a:srgbClr val="D7E1E9"/>
            </a:solidFill>
          </a:ln>
        </p:spPr>
        <p:txBody>
          <a:bodyPr/>
          <a:lstStyle/>
          <a:p>
            <a:endParaRPr lang="en-GB" sz="2400"/>
          </a:p>
        </p:txBody>
      </p:sp>
      <p:sp>
        <p:nvSpPr>
          <p:cNvPr id="8" name="Straight Connector 7">
            <a:extLst>
              <a:ext uri="{FF2B5EF4-FFF2-40B4-BE49-F238E27FC236}">
                <a16:creationId xmlns:a16="http://schemas.microsoft.com/office/drawing/2014/main" id="{E22B758E-FAC3-4A35-8DFA-B036F7E2A601}"/>
              </a:ext>
            </a:extLst>
          </p:cNvPr>
          <p:cNvSpPr>
            <a:spLocks noGrp="1"/>
          </p:cNvSpPr>
          <p:nvPr/>
        </p:nvSpPr>
        <p:spPr>
          <a:xfrm>
            <a:off x="647700" y="6238875"/>
            <a:ext cx="10896600" cy="0"/>
          </a:xfrm>
          <a:prstGeom prst="line">
            <a:avLst/>
          </a:prstGeom>
          <a:noFill/>
          <a:ln w="9525">
            <a:solidFill>
              <a:srgbClr val="D7E1E9"/>
            </a:solidFill>
          </a:ln>
        </p:spPr>
        <p:txBody>
          <a:bodyPr/>
          <a:lstStyle/>
          <a:p>
            <a:endParaRPr lang="en-GB" sz="2400"/>
          </a:p>
        </p:txBody>
      </p:sp>
      <p:sp>
        <p:nvSpPr>
          <p:cNvPr id="9" name="[Short paper title]">
            <a:extLst>
              <a:ext uri="{FF2B5EF4-FFF2-40B4-BE49-F238E27FC236}">
                <a16:creationId xmlns:a16="http://schemas.microsoft.com/office/drawing/2014/main" id="{BBC4145A-F4CD-4516-B1D3-65C427500D16}"/>
              </a:ext>
            </a:extLst>
          </p:cNvPr>
          <p:cNvSpPr>
            <a:spLocks noGrp="1"/>
          </p:cNvSpPr>
          <p:nvPr/>
        </p:nvSpPr>
        <p:spPr>
          <a:xfrm>
            <a:off x="647700" y="6419850"/>
            <a:ext cx="6429375"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r>
              <a:rPr lang="en-US" sz="2000" dirty="0">
                <a:solidFill>
                  <a:srgbClr val="627185"/>
                </a:solidFill>
                <a:latin typeface="Calibri"/>
              </a:rPr>
              <a:t>6G Architecture &amp; Requirements</a:t>
            </a:r>
            <a:endParaRPr lang="en-US" sz="2000" dirty="0">
              <a:solidFill>
                <a:srgbClr val="627185"/>
              </a:solidFill>
              <a:latin typeface="Calibri"/>
              <a:ea typeface="Calibri"/>
              <a:cs typeface="Calibri"/>
            </a:endParaRPr>
          </a:p>
        </p:txBody>
      </p:sp>
      <p:sp>
        <p:nvSpPr>
          <p:cNvPr id="10" name="Paper ID: [000]">
            <a:extLst>
              <a:ext uri="{FF2B5EF4-FFF2-40B4-BE49-F238E27FC236}">
                <a16:creationId xmlns:a16="http://schemas.microsoft.com/office/drawing/2014/main" id="{B70016D5-076D-467F-B58E-9D740BB96A1F}"/>
              </a:ext>
            </a:extLst>
          </p:cNvPr>
          <p:cNvSpPr>
            <a:spLocks noGrp="1"/>
          </p:cNvSpPr>
          <p:nvPr/>
        </p:nvSpPr>
        <p:spPr>
          <a:xfrm>
            <a:off x="8905875" y="6419850"/>
            <a:ext cx="2000250"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endParaRPr sz="2000" b="0" dirty="0">
              <a:solidFill>
                <a:srgbClr val="627185"/>
              </a:solidFill>
              <a:latin typeface="Calibri"/>
              <a:ea typeface="Calibri"/>
              <a:cs typeface="Calibri"/>
            </a:endParaRPr>
          </a:p>
        </p:txBody>
      </p:sp>
      <p:sp>
        <p:nvSpPr>
          <p:cNvPr id="11" name="08">
            <a:extLst>
              <a:ext uri="{FF2B5EF4-FFF2-40B4-BE49-F238E27FC236}">
                <a16:creationId xmlns:a16="http://schemas.microsoft.com/office/drawing/2014/main" id="{EE95AF9A-54C3-421D-B2EC-B9BB22699105}"/>
              </a:ext>
            </a:extLst>
          </p:cNvPr>
          <p:cNvSpPr>
            <a:spLocks noGrp="1"/>
          </p:cNvSpPr>
          <p:nvPr/>
        </p:nvSpPr>
        <p:spPr>
          <a:xfrm>
            <a:off x="11125200" y="6419850"/>
            <a:ext cx="419100" cy="219075"/>
          </a:xfrm>
          <a:prstGeom prst="rect">
            <a:avLst/>
          </a:prstGeom>
          <a:noFill/>
          <a:ln w="0">
            <a:noFill/>
          </a:ln>
        </p:spPr>
        <p:txBody>
          <a:bodyPr wrap="square" lIns="0" tIns="0" rIns="0" bIns="0" anchor="t">
            <a:noAutofit/>
          </a:bodyPr>
          <a:lstStyle/>
          <a:p>
            <a:pPr>
              <a:defRPr sz="1000" b="1">
                <a:solidFill>
                  <a:srgbClr val="0067A6"/>
                </a:solidFill>
                <a:latin typeface="Calibri"/>
                <a:ea typeface="Calibri"/>
                <a:cs typeface="Calibri"/>
              </a:defRPr>
            </a:pPr>
            <a:r>
              <a:rPr sz="2000" b="1">
                <a:solidFill>
                  <a:srgbClr val="0067A6"/>
                </a:solidFill>
                <a:latin typeface="Calibri"/>
                <a:ea typeface="Calibri"/>
                <a:cs typeface="Calibri"/>
              </a:rPr>
              <a:t>07</a:t>
            </a:r>
          </a:p>
        </p:txBody>
      </p:sp>
      <p:sp>
        <p:nvSpPr>
          <p:cNvPr id="12" name="Replace with research figure">
            <a:extLst>
              <a:ext uri="{FF2B5EF4-FFF2-40B4-BE49-F238E27FC236}">
                <a16:creationId xmlns:a16="http://schemas.microsoft.com/office/drawing/2014/main" id="{E323153A-18E8-42AB-90DE-A0D94646B9A6}"/>
              </a:ext>
            </a:extLst>
          </p:cNvPr>
          <p:cNvSpPr>
            <a:spLocks noGrp="1"/>
          </p:cNvSpPr>
          <p:nvPr/>
        </p:nvSpPr>
        <p:spPr>
          <a:xfrm>
            <a:off x="666750" y="2124075"/>
            <a:ext cx="7524750" cy="3238500"/>
          </a:xfrm>
          <a:prstGeom prst="rect">
            <a:avLst/>
          </a:prstGeom>
          <a:solidFill>
            <a:srgbClr val="FFFFFF"/>
          </a:solidFill>
          <a:ln w="9525">
            <a:solidFill>
              <a:srgbClr val="D7E1E9"/>
            </a:solidFill>
            <a:prstDash val="dash"/>
          </a:ln>
        </p:spPr>
        <p:txBody>
          <a:bodyPr/>
          <a:lstStyle/>
          <a:p>
            <a:endParaRPr lang="en-GB" sz="2400"/>
          </a:p>
        </p:txBody>
      </p:sp>
      <p:sp>
        <p:nvSpPr>
          <p:cNvPr id="13" name="[Insert your main results chart or figure]">
            <a:extLst>
              <a:ext uri="{FF2B5EF4-FFF2-40B4-BE49-F238E27FC236}">
                <a16:creationId xmlns:a16="http://schemas.microsoft.com/office/drawing/2014/main" id="{027A1C2E-1CEC-49D0-9AB3-F86C2B16AD3D}"/>
              </a:ext>
            </a:extLst>
          </p:cNvPr>
          <p:cNvSpPr>
            <a:spLocks noGrp="1"/>
          </p:cNvSpPr>
          <p:nvPr/>
        </p:nvSpPr>
        <p:spPr>
          <a:xfrm>
            <a:off x="904875" y="3362325"/>
            <a:ext cx="7048500" cy="762000"/>
          </a:xfrm>
          <a:prstGeom prst="rect">
            <a:avLst/>
          </a:prstGeom>
          <a:noFill/>
          <a:ln w="0">
            <a:noFill/>
          </a:ln>
        </p:spPr>
        <p:txBody>
          <a:bodyPr wrap="square" lIns="0" tIns="0" rIns="0" bIns="0" anchor="t">
            <a:noAutofit/>
          </a:bodyPr>
          <a:lstStyle/>
          <a:p>
            <a:pPr>
              <a:defRPr sz="1750" b="0">
                <a:solidFill>
                  <a:srgbClr val="627185"/>
                </a:solidFill>
                <a:latin typeface="Calibri"/>
                <a:ea typeface="Calibri"/>
                <a:cs typeface="Calibri"/>
              </a:defRPr>
            </a:pPr>
            <a:r>
              <a:rPr sz="2400" b="0">
                <a:solidFill>
                  <a:srgbClr val="627185"/>
                </a:solidFill>
                <a:latin typeface="Calibri"/>
                <a:ea typeface="Calibri"/>
                <a:cs typeface="Calibri"/>
              </a:rPr>
              <a:t>[Insert your main results chart or figure]</a:t>
            </a:r>
          </a:p>
        </p:txBody>
      </p:sp>
      <p:sp>
        <p:nvSpPr>
          <p:cNvPr id="14" name="Main finding">
            <a:extLst>
              <a:ext uri="{FF2B5EF4-FFF2-40B4-BE49-F238E27FC236}">
                <a16:creationId xmlns:a16="http://schemas.microsoft.com/office/drawing/2014/main" id="{1C2ED54F-162D-4E9B-9933-F350C957EB0F}"/>
              </a:ext>
            </a:extLst>
          </p:cNvPr>
          <p:cNvSpPr>
            <a:spLocks noGrp="1"/>
          </p:cNvSpPr>
          <p:nvPr/>
        </p:nvSpPr>
        <p:spPr>
          <a:xfrm>
            <a:off x="8667750" y="2143125"/>
            <a:ext cx="2809875" cy="409575"/>
          </a:xfrm>
          <a:prstGeom prst="rect">
            <a:avLst/>
          </a:prstGeom>
          <a:noFill/>
          <a:ln w="0">
            <a:noFill/>
          </a:ln>
        </p:spPr>
        <p:txBody>
          <a:bodyPr wrap="square" lIns="0" tIns="0" rIns="0" bIns="0" anchor="t">
            <a:noAutofit/>
          </a:bodyPr>
          <a:lstStyle/>
          <a:p>
            <a:pPr>
              <a:defRPr sz="1750" b="1">
                <a:solidFill>
                  <a:srgbClr val="0067A6"/>
                </a:solidFill>
                <a:latin typeface="Calibri"/>
                <a:ea typeface="Calibri"/>
                <a:cs typeface="Calibri"/>
              </a:defRPr>
            </a:pPr>
            <a:r>
              <a:rPr sz="2400" b="1">
                <a:solidFill>
                  <a:srgbClr val="0067A6"/>
                </a:solidFill>
                <a:latin typeface="Calibri"/>
                <a:ea typeface="Calibri"/>
                <a:cs typeface="Calibri"/>
              </a:rPr>
              <a:t>Main finding</a:t>
            </a:r>
          </a:p>
        </p:txBody>
      </p:sp>
      <p:sp>
        <p:nvSpPr>
          <p:cNvPr id="15" name="[State the result]&#10;&#10;[Explain what it means]">
            <a:extLst>
              <a:ext uri="{FF2B5EF4-FFF2-40B4-BE49-F238E27FC236}">
                <a16:creationId xmlns:a16="http://schemas.microsoft.com/office/drawing/2014/main" id="{3D1F8ADC-5BC0-41B3-AAB2-89296A8C39DF}"/>
              </a:ext>
            </a:extLst>
          </p:cNvPr>
          <p:cNvSpPr>
            <a:spLocks noGrp="1"/>
          </p:cNvSpPr>
          <p:nvPr/>
        </p:nvSpPr>
        <p:spPr>
          <a:xfrm>
            <a:off x="8667750" y="2743200"/>
            <a:ext cx="2809875" cy="2524125"/>
          </a:xfrm>
          <a:prstGeom prst="rect">
            <a:avLst/>
          </a:prstGeom>
          <a:noFill/>
          <a:ln w="0">
            <a:noFill/>
          </a:ln>
        </p:spPr>
        <p:txBody>
          <a:bodyPr wrap="square" lIns="0" tIns="0" rIns="0" bIns="0" anchor="t">
            <a:noAutofit/>
          </a:bodyPr>
          <a:lstStyle/>
          <a:p>
            <a:r>
              <a:rPr lang="en-US" sz="2000" dirty="0"/>
              <a:t>Integrated 6G networks may provide higher data rates, lower latency, and wider coverage than traditional 5G networks.</a:t>
            </a:r>
          </a:p>
          <a:p>
            <a:endParaRPr lang="en-US" sz="2000" dirty="0"/>
          </a:p>
          <a:p>
            <a:r>
              <a:rPr lang="en-US" sz="2000" dirty="0"/>
              <a:t>High-frequency bands offer more bandwidth, while satellites, UAVs, and RIS may help improve connectivity. </a:t>
            </a:r>
          </a:p>
        </p:txBody>
      </p:sp>
      <p:sp>
        <p:nvSpPr>
          <p:cNvPr id="16" name="[Figure caption, metric definitions and units]">
            <a:extLst>
              <a:ext uri="{FF2B5EF4-FFF2-40B4-BE49-F238E27FC236}">
                <a16:creationId xmlns:a16="http://schemas.microsoft.com/office/drawing/2014/main" id="{7C7D47A8-2A68-4F13-B4DA-D57A14234682}"/>
              </a:ext>
            </a:extLst>
          </p:cNvPr>
          <p:cNvSpPr>
            <a:spLocks noGrp="1"/>
          </p:cNvSpPr>
          <p:nvPr/>
        </p:nvSpPr>
        <p:spPr>
          <a:xfrm>
            <a:off x="666750" y="5610225"/>
            <a:ext cx="10820400" cy="409575"/>
          </a:xfrm>
          <a:prstGeom prst="rect">
            <a:avLst/>
          </a:prstGeom>
          <a:noFill/>
          <a:ln w="0">
            <a:noFill/>
          </a:ln>
        </p:spPr>
        <p:txBody>
          <a:bodyPr wrap="square" lIns="0" tIns="0" rIns="0" bIns="0" anchor="t">
            <a:noAutofit/>
          </a:bodyPr>
          <a:lstStyle/>
          <a:p>
            <a:pPr>
              <a:defRPr sz="1550" b="0">
                <a:solidFill>
                  <a:srgbClr val="627185"/>
                </a:solidFill>
                <a:latin typeface="Calibri"/>
                <a:ea typeface="Calibri"/>
                <a:cs typeface="Calibri"/>
              </a:defRPr>
            </a:pPr>
            <a:endParaRPr sz="2400" b="0" dirty="0">
              <a:solidFill>
                <a:srgbClr val="627185"/>
              </a:solidFill>
              <a:latin typeface="Calibri"/>
              <a:ea typeface="Calibri"/>
              <a:cs typeface="Calibri"/>
            </a:endParaRPr>
          </a:p>
        </p:txBody>
      </p:sp>
      <p:pic>
        <p:nvPicPr>
          <p:cNvPr id="4" name="Picture 3">
            <a:extLst>
              <a:ext uri="{FF2B5EF4-FFF2-40B4-BE49-F238E27FC236}">
                <a16:creationId xmlns:a16="http://schemas.microsoft.com/office/drawing/2014/main" id="{B1F5EC66-4B52-C332-CBDC-A3CF5CF1750E}"/>
              </a:ext>
            </a:extLst>
          </p:cNvPr>
          <p:cNvPicPr>
            <a:picLocks noChangeAspect="1"/>
          </p:cNvPicPr>
          <p:nvPr/>
        </p:nvPicPr>
        <p:blipFill>
          <a:blip r:embed="rId3"/>
          <a:stretch>
            <a:fillRect/>
          </a:stretch>
        </p:blipFill>
        <p:spPr>
          <a:xfrm>
            <a:off x="190500" y="1535318"/>
            <a:ext cx="8000999" cy="4340115"/>
          </a:xfrm>
          <a:prstGeom prst="rect">
            <a:avLst/>
          </a:prstGeom>
        </p:spPr>
      </p:pic>
      <p:pic>
        <p:nvPicPr>
          <p:cNvPr id="17" name="Picture 16" descr="image.png">
            <a:extLst>
              <a:ext uri="{FF2B5EF4-FFF2-40B4-BE49-F238E27FC236}">
                <a16:creationId xmlns:a16="http://schemas.microsoft.com/office/drawing/2014/main" id="{4F2C9987-88E3-3EBA-D654-321F170A9CC0}"/>
              </a:ext>
            </a:extLst>
          </p:cNvPr>
          <p:cNvPicPr>
            <a:picLocks noChangeAspect="1"/>
          </p:cNvPicPr>
          <p:nvPr/>
        </p:nvPicPr>
        <p:blipFill>
          <a:blip r:embed="rId4"/>
          <a:stretch>
            <a:fillRect/>
          </a:stretch>
        </p:blipFill>
        <p:spPr>
          <a:xfrm>
            <a:off x="10950688" y="75407"/>
            <a:ext cx="1187224" cy="1163637"/>
          </a:xfrm>
          <a:prstGeom prst="rect">
            <a:avLst/>
          </a:prstGeom>
        </p:spPr>
      </p:pic>
    </p:spTree>
    <p:extLst>
      <p:ext uri="{BB962C8B-B14F-4D97-AF65-F5344CB8AC3E}">
        <p14:creationId xmlns:p14="http://schemas.microsoft.com/office/powerpoint/2010/main" val="305531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Quantitative comparison">
            <a:extLst>
              <a:ext uri="{FF2B5EF4-FFF2-40B4-BE49-F238E27FC236}">
                <a16:creationId xmlns:a16="http://schemas.microsoft.com/office/drawing/2014/main" id="{7EC6AECF-D721-4012-8CA6-E273CE77D30C}"/>
              </a:ext>
            </a:extLst>
          </p:cNvPr>
          <p:cNvSpPr>
            <a:spLocks noGrp="1"/>
          </p:cNvSpPr>
          <p:nvPr/>
        </p:nvSpPr>
        <p:spPr>
          <a:xfrm>
            <a:off x="647700" y="1181100"/>
            <a:ext cx="10810875" cy="628650"/>
          </a:xfrm>
          <a:prstGeom prst="rect">
            <a:avLst/>
          </a:prstGeom>
          <a:noFill/>
          <a:ln w="0">
            <a:noFill/>
          </a:ln>
        </p:spPr>
        <p:txBody>
          <a:bodyPr wrap="square" lIns="0" tIns="0" rIns="0" bIns="0" anchor="t">
            <a:noAutofit/>
          </a:bodyPr>
          <a:lstStyle/>
          <a:p>
            <a:pPr>
              <a:defRPr sz="2900" b="1">
                <a:solidFill>
                  <a:srgbClr val="12263D"/>
                </a:solidFill>
                <a:latin typeface="Calibri"/>
                <a:ea typeface="Calibri"/>
                <a:cs typeface="Calibri"/>
              </a:defRPr>
            </a:pPr>
            <a:r>
              <a:rPr sz="3600" b="1" dirty="0">
                <a:solidFill>
                  <a:srgbClr val="12263D"/>
                </a:solidFill>
                <a:latin typeface="Calibri"/>
                <a:ea typeface="Calibri"/>
                <a:cs typeface="Calibri"/>
              </a:rPr>
              <a:t>Quantitative </a:t>
            </a:r>
            <a:r>
              <a:rPr lang="en-US" sz="3600" b="1" dirty="0">
                <a:solidFill>
                  <a:srgbClr val="12263D"/>
                </a:solidFill>
                <a:latin typeface="Calibri"/>
                <a:ea typeface="Calibri"/>
                <a:cs typeface="Calibri"/>
              </a:rPr>
              <a:t>C</a:t>
            </a:r>
            <a:r>
              <a:rPr sz="3600" b="1" dirty="0">
                <a:solidFill>
                  <a:srgbClr val="12263D"/>
                </a:solidFill>
                <a:latin typeface="Calibri"/>
                <a:ea typeface="Calibri"/>
                <a:cs typeface="Calibri"/>
              </a:rPr>
              <a:t>omparison</a:t>
            </a:r>
          </a:p>
        </p:txBody>
      </p:sp>
      <p:sp>
        <p:nvSpPr>
          <p:cNvPr id="7" name="Straight Connector 6">
            <a:extLst>
              <a:ext uri="{FF2B5EF4-FFF2-40B4-BE49-F238E27FC236}">
                <a16:creationId xmlns:a16="http://schemas.microsoft.com/office/drawing/2014/main" id="{4DB851D2-8538-4741-A702-786141D94188}"/>
              </a:ext>
            </a:extLst>
          </p:cNvPr>
          <p:cNvSpPr>
            <a:spLocks noGrp="1"/>
          </p:cNvSpPr>
          <p:nvPr/>
        </p:nvSpPr>
        <p:spPr>
          <a:xfrm>
            <a:off x="647700" y="1933575"/>
            <a:ext cx="10896600" cy="0"/>
          </a:xfrm>
          <a:prstGeom prst="line">
            <a:avLst/>
          </a:prstGeom>
          <a:noFill/>
          <a:ln w="9525">
            <a:solidFill>
              <a:srgbClr val="D7E1E9"/>
            </a:solidFill>
          </a:ln>
        </p:spPr>
        <p:txBody>
          <a:bodyPr/>
          <a:lstStyle/>
          <a:p>
            <a:endParaRPr lang="en-GB" sz="2400"/>
          </a:p>
        </p:txBody>
      </p:sp>
      <p:sp>
        <p:nvSpPr>
          <p:cNvPr id="8" name="Straight Connector 7">
            <a:extLst>
              <a:ext uri="{FF2B5EF4-FFF2-40B4-BE49-F238E27FC236}">
                <a16:creationId xmlns:a16="http://schemas.microsoft.com/office/drawing/2014/main" id="{92C7A7BA-39E4-49C0-911F-5B98D5B2FDC9}"/>
              </a:ext>
            </a:extLst>
          </p:cNvPr>
          <p:cNvSpPr>
            <a:spLocks noGrp="1"/>
          </p:cNvSpPr>
          <p:nvPr/>
        </p:nvSpPr>
        <p:spPr>
          <a:xfrm>
            <a:off x="647700" y="6238875"/>
            <a:ext cx="10896600" cy="0"/>
          </a:xfrm>
          <a:prstGeom prst="line">
            <a:avLst/>
          </a:prstGeom>
          <a:noFill/>
          <a:ln w="9525">
            <a:solidFill>
              <a:srgbClr val="D7E1E9"/>
            </a:solidFill>
          </a:ln>
        </p:spPr>
        <p:txBody>
          <a:bodyPr/>
          <a:lstStyle/>
          <a:p>
            <a:endParaRPr lang="en-GB" sz="2000"/>
          </a:p>
        </p:txBody>
      </p:sp>
      <p:sp>
        <p:nvSpPr>
          <p:cNvPr id="9" name="[Short paper title]">
            <a:extLst>
              <a:ext uri="{FF2B5EF4-FFF2-40B4-BE49-F238E27FC236}">
                <a16:creationId xmlns:a16="http://schemas.microsoft.com/office/drawing/2014/main" id="{4C59B0D8-2041-4F90-B71E-381948461D86}"/>
              </a:ext>
            </a:extLst>
          </p:cNvPr>
          <p:cNvSpPr>
            <a:spLocks noGrp="1"/>
          </p:cNvSpPr>
          <p:nvPr/>
        </p:nvSpPr>
        <p:spPr>
          <a:xfrm>
            <a:off x="647700" y="6419850"/>
            <a:ext cx="6429375"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r>
              <a:rPr lang="en-US" sz="2000" dirty="0">
                <a:solidFill>
                  <a:srgbClr val="627185"/>
                </a:solidFill>
                <a:latin typeface="Calibri"/>
              </a:rPr>
              <a:t>6G Architecture &amp; Requirements</a:t>
            </a:r>
            <a:endParaRPr lang="en-US" sz="2000" dirty="0">
              <a:solidFill>
                <a:srgbClr val="627185"/>
              </a:solidFill>
              <a:latin typeface="Calibri"/>
              <a:ea typeface="Calibri"/>
              <a:cs typeface="Calibri"/>
            </a:endParaRPr>
          </a:p>
        </p:txBody>
      </p:sp>
      <p:sp>
        <p:nvSpPr>
          <p:cNvPr id="10" name="Paper ID: [000]">
            <a:extLst>
              <a:ext uri="{FF2B5EF4-FFF2-40B4-BE49-F238E27FC236}">
                <a16:creationId xmlns:a16="http://schemas.microsoft.com/office/drawing/2014/main" id="{E45360E0-D030-4009-81D1-0729955E6E75}"/>
              </a:ext>
            </a:extLst>
          </p:cNvPr>
          <p:cNvSpPr>
            <a:spLocks noGrp="1"/>
          </p:cNvSpPr>
          <p:nvPr/>
        </p:nvSpPr>
        <p:spPr>
          <a:xfrm>
            <a:off x="8905875" y="6419850"/>
            <a:ext cx="2000250"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endParaRPr sz="2000" b="0" dirty="0">
              <a:solidFill>
                <a:srgbClr val="627185"/>
              </a:solidFill>
              <a:latin typeface="Calibri"/>
              <a:ea typeface="Calibri"/>
              <a:cs typeface="Calibri"/>
            </a:endParaRPr>
          </a:p>
        </p:txBody>
      </p:sp>
      <p:sp>
        <p:nvSpPr>
          <p:cNvPr id="11" name="09">
            <a:extLst>
              <a:ext uri="{FF2B5EF4-FFF2-40B4-BE49-F238E27FC236}">
                <a16:creationId xmlns:a16="http://schemas.microsoft.com/office/drawing/2014/main" id="{A00F2F52-D8A4-42BA-B1D2-E8279C6CD605}"/>
              </a:ext>
            </a:extLst>
          </p:cNvPr>
          <p:cNvSpPr>
            <a:spLocks noGrp="1"/>
          </p:cNvSpPr>
          <p:nvPr/>
        </p:nvSpPr>
        <p:spPr>
          <a:xfrm>
            <a:off x="11125200" y="6419850"/>
            <a:ext cx="419100" cy="219075"/>
          </a:xfrm>
          <a:prstGeom prst="rect">
            <a:avLst/>
          </a:prstGeom>
          <a:noFill/>
          <a:ln w="0">
            <a:noFill/>
          </a:ln>
        </p:spPr>
        <p:txBody>
          <a:bodyPr wrap="square" lIns="0" tIns="0" rIns="0" bIns="0" anchor="t">
            <a:noAutofit/>
          </a:bodyPr>
          <a:lstStyle/>
          <a:p>
            <a:pPr>
              <a:defRPr sz="1000" b="1">
                <a:solidFill>
                  <a:srgbClr val="0067A6"/>
                </a:solidFill>
                <a:latin typeface="Calibri"/>
                <a:ea typeface="Calibri"/>
                <a:cs typeface="Calibri"/>
              </a:defRPr>
            </a:pPr>
            <a:r>
              <a:rPr sz="2000" b="1">
                <a:solidFill>
                  <a:srgbClr val="0067A6"/>
                </a:solidFill>
                <a:latin typeface="Calibri"/>
                <a:ea typeface="Calibri"/>
                <a:cs typeface="Calibri"/>
              </a:rPr>
              <a:t>08</a:t>
            </a:r>
          </a:p>
        </p:txBody>
      </p:sp>
      <p:graphicFrame>
        <p:nvGraphicFramePr>
          <p:cNvPr id="25" name="Table 24"/>
          <p:cNvGraphicFramePr/>
          <p:nvPr>
            <p:extLst>
              <p:ext uri="{D42A27DB-BD31-4B8C-83A1-F6EECF244321}">
                <p14:modId xmlns:p14="http://schemas.microsoft.com/office/powerpoint/2010/main" val="432630752"/>
              </p:ext>
            </p:extLst>
          </p:nvPr>
        </p:nvGraphicFramePr>
        <p:xfrm>
          <a:off x="666750" y="2171700"/>
          <a:ext cx="10820400" cy="3159443"/>
        </p:xfrm>
        <a:graphic>
          <a:graphicData uri="http://schemas.openxmlformats.org/drawingml/2006/table">
            <a:tbl>
              <a:tblPr/>
              <a:tblGrid>
                <a:gridCol w="3905250">
                  <a:extLst>
                    <a:ext uri="{9D8B030D-6E8A-4147-A177-3AD203B41FA5}">
                      <a16:colId xmlns:a16="http://schemas.microsoft.com/office/drawing/2014/main" val="20000"/>
                    </a:ext>
                  </a:extLst>
                </a:gridCol>
                <a:gridCol w="2305050">
                  <a:extLst>
                    <a:ext uri="{9D8B030D-6E8A-4147-A177-3AD203B41FA5}">
                      <a16:colId xmlns:a16="http://schemas.microsoft.com/office/drawing/2014/main" val="20001"/>
                    </a:ext>
                  </a:extLst>
                </a:gridCol>
                <a:gridCol w="2305050">
                  <a:extLst>
                    <a:ext uri="{9D8B030D-6E8A-4147-A177-3AD203B41FA5}">
                      <a16:colId xmlns:a16="http://schemas.microsoft.com/office/drawing/2014/main" val="20002"/>
                    </a:ext>
                  </a:extLst>
                </a:gridCol>
                <a:gridCol w="2305050">
                  <a:extLst>
                    <a:ext uri="{9D8B030D-6E8A-4147-A177-3AD203B41FA5}">
                      <a16:colId xmlns:a16="http://schemas.microsoft.com/office/drawing/2014/main" val="20003"/>
                    </a:ext>
                  </a:extLst>
                </a:gridCol>
              </a:tblGrid>
              <a:tr h="690563">
                <a:tc>
                  <a:txBody>
                    <a:bodyPr/>
                    <a:lstStyle/>
                    <a:p>
                      <a:r>
                        <a:rPr sz="2400" b="1" dirty="0">
                          <a:solidFill>
                            <a:srgbClr val="FFFFFF"/>
                          </a:solidFill>
                          <a:latin typeface="Calibri"/>
                          <a:ea typeface="Calibri"/>
                          <a:cs typeface="Calibri"/>
                        </a:rPr>
                        <a:t>Method</a:t>
                      </a:r>
                    </a:p>
                  </a:txBody>
                  <a:tcPr anchor="ctr">
                    <a:solidFill>
                      <a:srgbClr val="0067A6"/>
                    </a:solidFill>
                  </a:tcPr>
                </a:tc>
                <a:tc>
                  <a:txBody>
                    <a:bodyPr/>
                    <a:lstStyle/>
                    <a:p>
                      <a:r>
                        <a:rPr lang="en-US" sz="2400" b="1" dirty="0">
                          <a:solidFill>
                            <a:srgbClr val="FFFFFF"/>
                          </a:solidFill>
                          <a:latin typeface="Calibri"/>
                          <a:ea typeface="Calibri"/>
                          <a:cs typeface="Calibri"/>
                        </a:rPr>
                        <a:t> Peak Data Rate</a:t>
                      </a:r>
                      <a:endParaRPr sz="2400" b="1" dirty="0">
                        <a:solidFill>
                          <a:srgbClr val="FFFFFF"/>
                        </a:solidFill>
                        <a:latin typeface="Calibri"/>
                        <a:ea typeface="Calibri"/>
                        <a:cs typeface="Calibri"/>
                      </a:endParaRPr>
                    </a:p>
                  </a:txBody>
                  <a:tcPr anchor="ctr">
                    <a:solidFill>
                      <a:srgbClr val="0067A6"/>
                    </a:solidFill>
                  </a:tcPr>
                </a:tc>
                <a:tc>
                  <a:txBody>
                    <a:bodyPr/>
                    <a:lstStyle/>
                    <a:p>
                      <a:r>
                        <a:rPr lang="en-US" sz="2400" b="1" dirty="0">
                          <a:solidFill>
                            <a:srgbClr val="FFFFFF"/>
                          </a:solidFill>
                          <a:latin typeface="Calibri"/>
                          <a:ea typeface="Calibri"/>
                          <a:cs typeface="Calibri"/>
                        </a:rPr>
                        <a:t>Latency</a:t>
                      </a:r>
                      <a:endParaRPr sz="2400" b="1" dirty="0">
                        <a:solidFill>
                          <a:srgbClr val="FFFFFF"/>
                        </a:solidFill>
                        <a:latin typeface="Calibri"/>
                        <a:ea typeface="Calibri"/>
                        <a:cs typeface="Calibri"/>
                      </a:endParaRPr>
                    </a:p>
                  </a:txBody>
                  <a:tcPr anchor="ctr">
                    <a:solidFill>
                      <a:srgbClr val="0067A6"/>
                    </a:solidFill>
                  </a:tcPr>
                </a:tc>
                <a:tc>
                  <a:txBody>
                    <a:bodyPr/>
                    <a:lstStyle/>
                    <a:p>
                      <a:r>
                        <a:rPr lang="en-US" sz="2400" b="1" dirty="0">
                          <a:solidFill>
                            <a:srgbClr val="FFFFFF"/>
                          </a:solidFill>
                          <a:latin typeface="Calibri"/>
                          <a:ea typeface="Calibri"/>
                          <a:cs typeface="Calibri"/>
                        </a:rPr>
                        <a:t>Connection Density</a:t>
                      </a:r>
                      <a:endParaRPr sz="2400" b="1" dirty="0">
                        <a:solidFill>
                          <a:srgbClr val="FFFFFF"/>
                        </a:solidFill>
                        <a:latin typeface="Calibri"/>
                        <a:ea typeface="Calibri"/>
                        <a:cs typeface="Calibri"/>
                      </a:endParaRPr>
                    </a:p>
                  </a:txBody>
                  <a:tcPr anchor="ctr">
                    <a:solidFill>
                      <a:srgbClr val="0067A6"/>
                    </a:solidFill>
                  </a:tcPr>
                </a:tc>
                <a:extLst>
                  <a:ext uri="{0D108BD9-81ED-4DB2-BD59-A6C34878D82A}">
                    <a16:rowId xmlns:a16="http://schemas.microsoft.com/office/drawing/2014/main" val="10000"/>
                  </a:ext>
                </a:extLst>
              </a:tr>
              <a:tr h="690563">
                <a:tc>
                  <a:txBody>
                    <a:bodyPr/>
                    <a:lstStyle/>
                    <a:p>
                      <a:r>
                        <a:rPr lang="en-US" sz="2400" b="0" dirty="0">
                          <a:solidFill>
                            <a:srgbClr val="12263D"/>
                          </a:solidFill>
                          <a:latin typeface="Calibri"/>
                          <a:ea typeface="Calibri"/>
                          <a:cs typeface="Calibri"/>
                        </a:rPr>
                        <a:t> 5G Standard</a:t>
                      </a:r>
                      <a:endParaRPr sz="2400" b="0" dirty="0">
                        <a:solidFill>
                          <a:srgbClr val="12263D"/>
                        </a:solidFill>
                        <a:latin typeface="Calibri"/>
                        <a:ea typeface="Calibri"/>
                        <a:cs typeface="Calibri"/>
                      </a:endParaRPr>
                    </a:p>
                  </a:txBody>
                  <a:tcPr anchor="ctr">
                    <a:solidFill>
                      <a:srgbClr val="FFFFFF"/>
                    </a:solidFill>
                  </a:tcPr>
                </a:tc>
                <a:tc>
                  <a:txBody>
                    <a:bodyPr/>
                    <a:lstStyle/>
                    <a:p>
                      <a:r>
                        <a:rPr lang="en-US" sz="2400" b="0" dirty="0">
                          <a:solidFill>
                            <a:srgbClr val="12263D"/>
                          </a:solidFill>
                          <a:latin typeface="Calibri"/>
                          <a:ea typeface="Calibri"/>
                          <a:cs typeface="Calibri"/>
                        </a:rPr>
                        <a:t>20 Gbps</a:t>
                      </a:r>
                      <a:endParaRPr sz="2400" b="0" dirty="0">
                        <a:solidFill>
                          <a:srgbClr val="12263D"/>
                        </a:solidFill>
                        <a:latin typeface="Calibri"/>
                        <a:ea typeface="Calibri"/>
                        <a:cs typeface="Calibri"/>
                      </a:endParaRPr>
                    </a:p>
                  </a:txBody>
                  <a:tcPr anchor="ctr">
                    <a:solidFill>
                      <a:srgbClr val="FFFFFF"/>
                    </a:solidFill>
                  </a:tcPr>
                </a:tc>
                <a:tc>
                  <a:txBody>
                    <a:bodyPr/>
                    <a:lstStyle/>
                    <a:p>
                      <a:r>
                        <a:rPr lang="en-US" sz="2400" b="0" dirty="0">
                          <a:solidFill>
                            <a:srgbClr val="12263D"/>
                          </a:solidFill>
                          <a:latin typeface="Calibri"/>
                          <a:ea typeface="Calibri"/>
                          <a:cs typeface="Calibri"/>
                        </a:rPr>
                        <a:t>1 </a:t>
                      </a:r>
                      <a:r>
                        <a:rPr lang="en-US" sz="2400" b="0" dirty="0" err="1">
                          <a:solidFill>
                            <a:srgbClr val="12263D"/>
                          </a:solidFill>
                          <a:latin typeface="Calibri"/>
                          <a:ea typeface="Calibri"/>
                          <a:cs typeface="Calibri"/>
                        </a:rPr>
                        <a:t>ms</a:t>
                      </a:r>
                      <a:endParaRPr sz="2400" b="0" dirty="0">
                        <a:solidFill>
                          <a:srgbClr val="12263D"/>
                        </a:solidFill>
                        <a:latin typeface="Calibri"/>
                        <a:ea typeface="Calibri"/>
                        <a:cs typeface="Calibri"/>
                      </a:endParaRPr>
                    </a:p>
                  </a:txBody>
                  <a:tcPr anchor="ctr">
                    <a:solidFill>
                      <a:srgbClr val="FFFFFF"/>
                    </a:solidFill>
                  </a:tcPr>
                </a:tc>
                <a:tc>
                  <a:txBody>
                    <a:bodyPr/>
                    <a:lstStyle/>
                    <a:p>
                      <a:r>
                        <a:rPr lang="en-US" sz="2400" b="0" dirty="0">
                          <a:solidFill>
                            <a:srgbClr val="12263D"/>
                          </a:solidFill>
                          <a:latin typeface="Calibri"/>
                          <a:ea typeface="Calibri"/>
                          <a:cs typeface="Calibri"/>
                        </a:rPr>
                        <a:t> </a:t>
                      </a:r>
                      <a:r>
                        <a:rPr lang="en-US" sz="1800" b="1" u="none" strike="noStrike" dirty="0">
                          <a:solidFill>
                            <a:schemeClr val="tx1"/>
                          </a:solidFill>
                          <a:effectLst/>
                          <a:latin typeface="+mn-lt"/>
                          <a:ea typeface="+mn-ea"/>
                          <a:cs typeface="+mn-cs"/>
                        </a:rPr>
                        <a:t>10⁶</a:t>
                      </a:r>
                      <a:r>
                        <a:rPr lang="en-US" sz="2400" dirty="0"/>
                        <a:t> devices/km²</a:t>
                      </a:r>
                      <a:endParaRPr sz="2400" b="0" dirty="0">
                        <a:solidFill>
                          <a:srgbClr val="12263D"/>
                        </a:solidFill>
                        <a:latin typeface="Calibri"/>
                        <a:ea typeface="Calibri"/>
                        <a:cs typeface="Calibri"/>
                      </a:endParaRPr>
                    </a:p>
                  </a:txBody>
                  <a:tcPr anchor="ctr">
                    <a:solidFill>
                      <a:srgbClr val="FFFFFF"/>
                    </a:solidFill>
                  </a:tcPr>
                </a:tc>
                <a:extLst>
                  <a:ext uri="{0D108BD9-81ED-4DB2-BD59-A6C34878D82A}">
                    <a16:rowId xmlns:a16="http://schemas.microsoft.com/office/drawing/2014/main" val="10001"/>
                  </a:ext>
                </a:extLst>
              </a:tr>
              <a:tr h="690563">
                <a:tc>
                  <a:txBody>
                    <a:bodyPr/>
                    <a:lstStyle/>
                    <a:p>
                      <a:r>
                        <a:rPr lang="en-US" sz="2400" b="0" dirty="0">
                          <a:solidFill>
                            <a:srgbClr val="12263D"/>
                          </a:solidFill>
                          <a:latin typeface="Calibri"/>
                          <a:ea typeface="Calibri"/>
                          <a:cs typeface="Calibri"/>
                        </a:rPr>
                        <a:t> 5G – Advanced</a:t>
                      </a:r>
                      <a:endParaRPr sz="2400" b="0" dirty="0">
                        <a:solidFill>
                          <a:srgbClr val="12263D"/>
                        </a:solidFill>
                        <a:latin typeface="Calibri"/>
                        <a:ea typeface="Calibri"/>
                        <a:cs typeface="Calibri"/>
                      </a:endParaRPr>
                    </a:p>
                  </a:txBody>
                  <a:tcPr anchor="ctr">
                    <a:solidFill>
                      <a:srgbClr val="FFFFFF"/>
                    </a:solidFill>
                  </a:tcPr>
                </a:tc>
                <a:tc>
                  <a:txBody>
                    <a:bodyPr/>
                    <a:lstStyle/>
                    <a:p>
                      <a:r>
                        <a:rPr lang="en-US" sz="2400" b="0" dirty="0">
                          <a:solidFill>
                            <a:srgbClr val="12263D"/>
                          </a:solidFill>
                          <a:latin typeface="Calibri"/>
                          <a:ea typeface="Calibri"/>
                          <a:cs typeface="Calibri"/>
                        </a:rPr>
                        <a:t>Depends on configuration</a:t>
                      </a:r>
                      <a:endParaRPr sz="2400" b="0" dirty="0">
                        <a:solidFill>
                          <a:srgbClr val="12263D"/>
                        </a:solidFill>
                        <a:latin typeface="Calibri"/>
                        <a:ea typeface="Calibri"/>
                        <a:cs typeface="Calibri"/>
                      </a:endParaRPr>
                    </a:p>
                  </a:txBody>
                  <a:tcPr anchor="ctr">
                    <a:solidFill>
                      <a:srgbClr val="FFFFFF"/>
                    </a:solidFill>
                  </a:tcPr>
                </a:tc>
                <a:tc>
                  <a:txBody>
                    <a:bodyPr/>
                    <a:lstStyle/>
                    <a:p>
                      <a:r>
                        <a:rPr lang="en-US" sz="2400" b="0" dirty="0">
                          <a:solidFill>
                            <a:srgbClr val="12263D"/>
                          </a:solidFill>
                          <a:latin typeface="Calibri"/>
                          <a:ea typeface="Calibri"/>
                          <a:cs typeface="Calibri"/>
                        </a:rPr>
                        <a:t>Depends on configuration</a:t>
                      </a:r>
                      <a:endParaRPr sz="2400" b="0" dirty="0">
                        <a:solidFill>
                          <a:srgbClr val="12263D"/>
                        </a:solidFill>
                        <a:latin typeface="Calibri"/>
                        <a:ea typeface="Calibri"/>
                        <a:cs typeface="Calibri"/>
                      </a:endParaRPr>
                    </a:p>
                  </a:txBody>
                  <a:tcPr anchor="ctr">
                    <a:solidFill>
                      <a:srgbClr val="FFFFFF"/>
                    </a:solidFill>
                  </a:tcPr>
                </a:tc>
                <a:tc>
                  <a:txBody>
                    <a:bodyPr/>
                    <a:lstStyle/>
                    <a:p>
                      <a:r>
                        <a:rPr lang="en-US" sz="2400" b="0" dirty="0">
                          <a:solidFill>
                            <a:srgbClr val="12263D"/>
                          </a:solidFill>
                          <a:latin typeface="Calibri"/>
                          <a:ea typeface="Calibri"/>
                          <a:cs typeface="Calibri"/>
                        </a:rPr>
                        <a:t>144.43</a:t>
                      </a:r>
                      <a:endParaRPr sz="2400" b="0" dirty="0">
                        <a:solidFill>
                          <a:srgbClr val="12263D"/>
                        </a:solidFill>
                        <a:latin typeface="Calibri"/>
                        <a:ea typeface="Calibri"/>
                        <a:cs typeface="Calibri"/>
                      </a:endParaRPr>
                    </a:p>
                  </a:txBody>
                  <a:tcPr anchor="ctr">
                    <a:solidFill>
                      <a:srgbClr val="FFFFFF"/>
                    </a:solidFill>
                  </a:tcPr>
                </a:tc>
                <a:extLst>
                  <a:ext uri="{0D108BD9-81ED-4DB2-BD59-A6C34878D82A}">
                    <a16:rowId xmlns:a16="http://schemas.microsoft.com/office/drawing/2014/main" val="10002"/>
                  </a:ext>
                </a:extLst>
              </a:tr>
              <a:tr h="690563">
                <a:tc>
                  <a:txBody>
                    <a:bodyPr/>
                    <a:lstStyle/>
                    <a:p>
                      <a:r>
                        <a:rPr lang="en-US" sz="2400" b="0" dirty="0">
                          <a:solidFill>
                            <a:srgbClr val="12263D"/>
                          </a:solidFill>
                          <a:latin typeface="Calibri"/>
                          <a:ea typeface="Calibri"/>
                          <a:cs typeface="Calibri"/>
                        </a:rPr>
                        <a:t>6G vision</a:t>
                      </a:r>
                      <a:endParaRPr sz="2400" b="0" dirty="0">
                        <a:solidFill>
                          <a:srgbClr val="12263D"/>
                        </a:solidFill>
                        <a:latin typeface="Calibri"/>
                        <a:ea typeface="Calibri"/>
                        <a:cs typeface="Calibri"/>
                      </a:endParaRPr>
                    </a:p>
                  </a:txBody>
                  <a:tcPr anchor="ctr">
                    <a:solidFill>
                      <a:srgbClr val="FFFFFF"/>
                    </a:solidFill>
                  </a:tcPr>
                </a:tc>
                <a:tc>
                  <a:txBody>
                    <a:bodyPr/>
                    <a:lstStyle/>
                    <a:p>
                      <a:r>
                        <a:rPr lang="en-US" sz="2400" b="0" dirty="0">
                          <a:solidFill>
                            <a:srgbClr val="12263D"/>
                          </a:solidFill>
                          <a:latin typeface="Calibri"/>
                          <a:ea typeface="Calibri"/>
                          <a:cs typeface="Calibri"/>
                        </a:rPr>
                        <a:t>157.31</a:t>
                      </a:r>
                      <a:endParaRPr sz="2400" b="0" dirty="0">
                        <a:solidFill>
                          <a:srgbClr val="12263D"/>
                        </a:solidFill>
                        <a:latin typeface="Calibri"/>
                        <a:ea typeface="Calibri"/>
                        <a:cs typeface="Calibri"/>
                      </a:endParaRPr>
                    </a:p>
                  </a:txBody>
                  <a:tcPr anchor="ctr">
                    <a:solidFill>
                      <a:srgbClr val="FFFFFF"/>
                    </a:solidFill>
                  </a:tcPr>
                </a:tc>
                <a:tc>
                  <a:txBody>
                    <a:bodyPr/>
                    <a:lstStyle/>
                    <a:p>
                      <a:r>
                        <a:rPr lang="en-US" sz="2400" b="0" dirty="0">
                          <a:solidFill>
                            <a:srgbClr val="12263D"/>
                          </a:solidFill>
                          <a:latin typeface="Calibri"/>
                          <a:ea typeface="Calibri"/>
                          <a:cs typeface="Calibri"/>
                        </a:rPr>
                        <a:t>&lt; 0.1 </a:t>
                      </a:r>
                      <a:r>
                        <a:rPr lang="en-US" sz="2400" b="0" dirty="0" err="1">
                          <a:solidFill>
                            <a:srgbClr val="12263D"/>
                          </a:solidFill>
                          <a:latin typeface="Calibri"/>
                          <a:ea typeface="Calibri"/>
                          <a:cs typeface="Calibri"/>
                        </a:rPr>
                        <a:t>ms</a:t>
                      </a:r>
                      <a:endParaRPr sz="2400" b="0" dirty="0">
                        <a:solidFill>
                          <a:srgbClr val="12263D"/>
                        </a:solidFill>
                        <a:latin typeface="Calibri"/>
                        <a:ea typeface="Calibri"/>
                        <a:cs typeface="Calibri"/>
                      </a:endParaRPr>
                    </a:p>
                  </a:txBody>
                  <a:tcPr anchor="ctr">
                    <a:solidFill>
                      <a:srgbClr val="FFFFFF"/>
                    </a:solidFill>
                  </a:tcPr>
                </a:tc>
                <a:tc>
                  <a:txBody>
                    <a:bodyPr/>
                    <a:lstStyle/>
                    <a:p>
                      <a:r>
                        <a:rPr lang="en-US" sz="2400" b="0" dirty="0">
                          <a:solidFill>
                            <a:srgbClr val="12263D"/>
                          </a:solidFill>
                          <a:latin typeface="Calibri"/>
                          <a:ea typeface="Calibri"/>
                          <a:cs typeface="Calibri"/>
                        </a:rPr>
                        <a:t>Target up to </a:t>
                      </a:r>
                      <a:r>
                        <a:rPr lang="en-US" sz="2400" dirty="0"/>
                        <a:t>10⁷ devices/km²</a:t>
                      </a:r>
                      <a:endParaRPr sz="2400" b="0" dirty="0">
                        <a:solidFill>
                          <a:srgbClr val="12263D"/>
                        </a:solidFill>
                        <a:latin typeface="Calibri"/>
                        <a:ea typeface="Calibri"/>
                        <a:cs typeface="Calibri"/>
                      </a:endParaRP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3" name="[One sentence explaining the key comparison]">
            <a:extLst>
              <a:ext uri="{FF2B5EF4-FFF2-40B4-BE49-F238E27FC236}">
                <a16:creationId xmlns:a16="http://schemas.microsoft.com/office/drawing/2014/main" id="{C6CFD331-7D39-43BF-B7AB-10EE67B565BB}"/>
              </a:ext>
            </a:extLst>
          </p:cNvPr>
          <p:cNvSpPr>
            <a:spLocks noGrp="1"/>
          </p:cNvSpPr>
          <p:nvPr/>
        </p:nvSpPr>
        <p:spPr>
          <a:xfrm>
            <a:off x="666750" y="5448299"/>
            <a:ext cx="10572750" cy="666750"/>
          </a:xfrm>
          <a:prstGeom prst="rect">
            <a:avLst/>
          </a:prstGeom>
          <a:noFill/>
          <a:ln w="0">
            <a:noFill/>
          </a:ln>
        </p:spPr>
        <p:txBody>
          <a:bodyPr wrap="square" lIns="0" tIns="0" rIns="0" bIns="0" anchor="t">
            <a:noAutofit/>
          </a:bodyPr>
          <a:lstStyle/>
          <a:p>
            <a:pPr>
              <a:defRPr sz="2050" b="1">
                <a:solidFill>
                  <a:srgbClr val="0067A6"/>
                </a:solidFill>
                <a:latin typeface="Calibri"/>
                <a:ea typeface="Calibri"/>
                <a:cs typeface="Calibri"/>
              </a:defRPr>
            </a:pPr>
            <a:r>
              <a:rPr lang="en-US" sz="2000" dirty="0">
                <a:solidFill>
                  <a:srgbClr val="0067A6"/>
                </a:solidFill>
                <a:latin typeface="Calibri"/>
              </a:rPr>
              <a:t> The 6G vision aims to improve data rates, reduce latency, and support more connected devices than 5G.</a:t>
            </a:r>
          </a:p>
          <a:p>
            <a:pPr>
              <a:defRPr sz="2050" b="1">
                <a:solidFill>
                  <a:srgbClr val="0067A6"/>
                </a:solidFill>
                <a:latin typeface="Calibri"/>
                <a:ea typeface="Calibri"/>
                <a:cs typeface="Calibri"/>
              </a:defRPr>
            </a:pPr>
            <a:endParaRPr lang="en-US" sz="2000" dirty="0">
              <a:solidFill>
                <a:srgbClr val="0067A6"/>
              </a:solidFill>
              <a:latin typeface="Calibri"/>
            </a:endParaRPr>
          </a:p>
          <a:p>
            <a:pPr>
              <a:defRPr sz="2050" b="1">
                <a:solidFill>
                  <a:srgbClr val="0067A6"/>
                </a:solidFill>
                <a:latin typeface="Calibri"/>
                <a:ea typeface="Calibri"/>
                <a:cs typeface="Calibri"/>
              </a:defRPr>
            </a:pPr>
            <a:endParaRPr sz="2000" dirty="0">
              <a:solidFill>
                <a:srgbClr val="0067A6"/>
              </a:solidFill>
              <a:latin typeface="Calibri"/>
              <a:ea typeface="Calibri"/>
              <a:cs typeface="Calibri"/>
            </a:endParaRPr>
          </a:p>
        </p:txBody>
      </p:sp>
      <p:pic>
        <p:nvPicPr>
          <p:cNvPr id="3" name="Picture 2" descr="image.png">
            <a:extLst>
              <a:ext uri="{FF2B5EF4-FFF2-40B4-BE49-F238E27FC236}">
                <a16:creationId xmlns:a16="http://schemas.microsoft.com/office/drawing/2014/main" id="{B14BA830-6CB7-E775-9B52-9AC3F72FF7E0}"/>
              </a:ext>
            </a:extLst>
          </p:cNvPr>
          <p:cNvPicPr>
            <a:picLocks noChangeAspect="1"/>
          </p:cNvPicPr>
          <p:nvPr/>
        </p:nvPicPr>
        <p:blipFill>
          <a:blip r:embed="rId3"/>
          <a:stretch>
            <a:fillRect/>
          </a:stretch>
        </p:blipFill>
        <p:spPr>
          <a:xfrm>
            <a:off x="10950688" y="75407"/>
            <a:ext cx="1187224" cy="1163637"/>
          </a:xfrm>
          <a:prstGeom prst="rect">
            <a:avLst/>
          </a:prstGeom>
        </p:spPr>
      </p:pic>
    </p:spTree>
    <p:extLst>
      <p:ext uri="{BB962C8B-B14F-4D97-AF65-F5344CB8AC3E}">
        <p14:creationId xmlns:p14="http://schemas.microsoft.com/office/powerpoint/2010/main" val="3180696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Conclusion and future work">
            <a:extLst>
              <a:ext uri="{FF2B5EF4-FFF2-40B4-BE49-F238E27FC236}">
                <a16:creationId xmlns:a16="http://schemas.microsoft.com/office/drawing/2014/main" id="{7F89A1F1-414D-4328-92FC-3A6A90C4B6E4}"/>
              </a:ext>
            </a:extLst>
          </p:cNvPr>
          <p:cNvSpPr>
            <a:spLocks noGrp="1"/>
          </p:cNvSpPr>
          <p:nvPr/>
        </p:nvSpPr>
        <p:spPr>
          <a:xfrm>
            <a:off x="647700" y="1181100"/>
            <a:ext cx="10810875" cy="628650"/>
          </a:xfrm>
          <a:prstGeom prst="rect">
            <a:avLst/>
          </a:prstGeom>
          <a:noFill/>
          <a:ln w="0">
            <a:noFill/>
          </a:ln>
        </p:spPr>
        <p:txBody>
          <a:bodyPr wrap="square" lIns="0" tIns="0" rIns="0" bIns="0" anchor="t">
            <a:noAutofit/>
          </a:bodyPr>
          <a:lstStyle/>
          <a:p>
            <a:pPr>
              <a:defRPr sz="2900" b="1">
                <a:solidFill>
                  <a:srgbClr val="12263D"/>
                </a:solidFill>
                <a:latin typeface="Calibri"/>
                <a:ea typeface="Calibri"/>
                <a:cs typeface="Calibri"/>
              </a:defRPr>
            </a:pPr>
            <a:r>
              <a:rPr sz="3600" b="1" dirty="0">
                <a:solidFill>
                  <a:srgbClr val="12263D"/>
                </a:solidFill>
                <a:latin typeface="Calibri"/>
                <a:ea typeface="Calibri"/>
                <a:cs typeface="Calibri"/>
              </a:rPr>
              <a:t>Conclusion</a:t>
            </a:r>
            <a:r>
              <a:rPr lang="en-GB" sz="3600" b="1" dirty="0">
                <a:solidFill>
                  <a:srgbClr val="12263D"/>
                </a:solidFill>
                <a:latin typeface="Calibri"/>
                <a:ea typeface="Calibri"/>
                <a:cs typeface="Calibri"/>
              </a:rPr>
              <a:t>s</a:t>
            </a:r>
            <a:r>
              <a:rPr sz="3600" b="1" dirty="0">
                <a:solidFill>
                  <a:srgbClr val="12263D"/>
                </a:solidFill>
                <a:latin typeface="Calibri"/>
                <a:ea typeface="Calibri"/>
                <a:cs typeface="Calibri"/>
              </a:rPr>
              <a:t> and </a:t>
            </a:r>
            <a:r>
              <a:rPr lang="en-GB" sz="3600" b="1" dirty="0">
                <a:solidFill>
                  <a:srgbClr val="12263D"/>
                </a:solidFill>
                <a:latin typeface="Calibri"/>
                <a:ea typeface="Calibri"/>
                <a:cs typeface="Calibri"/>
              </a:rPr>
              <a:t>F</a:t>
            </a:r>
            <a:r>
              <a:rPr sz="3600" b="1" dirty="0" err="1">
                <a:solidFill>
                  <a:srgbClr val="12263D"/>
                </a:solidFill>
                <a:latin typeface="Calibri"/>
                <a:ea typeface="Calibri"/>
                <a:cs typeface="Calibri"/>
              </a:rPr>
              <a:t>uture</a:t>
            </a:r>
            <a:r>
              <a:rPr sz="3600" b="1" dirty="0">
                <a:solidFill>
                  <a:srgbClr val="12263D"/>
                </a:solidFill>
                <a:latin typeface="Calibri"/>
                <a:ea typeface="Calibri"/>
                <a:cs typeface="Calibri"/>
              </a:rPr>
              <a:t> work</a:t>
            </a:r>
          </a:p>
        </p:txBody>
      </p:sp>
      <p:sp>
        <p:nvSpPr>
          <p:cNvPr id="7" name="Straight Connector 6">
            <a:extLst>
              <a:ext uri="{FF2B5EF4-FFF2-40B4-BE49-F238E27FC236}">
                <a16:creationId xmlns:a16="http://schemas.microsoft.com/office/drawing/2014/main" id="{20CAEAF6-D486-4770-BA3C-99BEBFF275D3}"/>
              </a:ext>
            </a:extLst>
          </p:cNvPr>
          <p:cNvSpPr>
            <a:spLocks noGrp="1"/>
          </p:cNvSpPr>
          <p:nvPr/>
        </p:nvSpPr>
        <p:spPr>
          <a:xfrm>
            <a:off x="647700" y="1933575"/>
            <a:ext cx="10896600" cy="0"/>
          </a:xfrm>
          <a:prstGeom prst="line">
            <a:avLst/>
          </a:prstGeom>
          <a:noFill/>
          <a:ln w="9525">
            <a:solidFill>
              <a:srgbClr val="D7E1E9"/>
            </a:solidFill>
          </a:ln>
        </p:spPr>
        <p:txBody>
          <a:bodyPr/>
          <a:lstStyle/>
          <a:p>
            <a:endParaRPr lang="en-GB"/>
          </a:p>
        </p:txBody>
      </p:sp>
      <p:sp>
        <p:nvSpPr>
          <p:cNvPr id="8" name="Straight Connector 7">
            <a:extLst>
              <a:ext uri="{FF2B5EF4-FFF2-40B4-BE49-F238E27FC236}">
                <a16:creationId xmlns:a16="http://schemas.microsoft.com/office/drawing/2014/main" id="{B0E0EA9F-DE83-4282-B754-BD1AD5A79245}"/>
              </a:ext>
            </a:extLst>
          </p:cNvPr>
          <p:cNvSpPr>
            <a:spLocks noGrp="1"/>
          </p:cNvSpPr>
          <p:nvPr/>
        </p:nvSpPr>
        <p:spPr>
          <a:xfrm>
            <a:off x="647700" y="6238875"/>
            <a:ext cx="10896600" cy="0"/>
          </a:xfrm>
          <a:prstGeom prst="line">
            <a:avLst/>
          </a:prstGeom>
          <a:noFill/>
          <a:ln w="9525">
            <a:solidFill>
              <a:srgbClr val="D7E1E9"/>
            </a:solidFill>
          </a:ln>
        </p:spPr>
        <p:txBody>
          <a:bodyPr/>
          <a:lstStyle/>
          <a:p>
            <a:endParaRPr lang="en-GB" sz="2000"/>
          </a:p>
        </p:txBody>
      </p:sp>
      <p:sp>
        <p:nvSpPr>
          <p:cNvPr id="9" name="[Short paper title]">
            <a:extLst>
              <a:ext uri="{FF2B5EF4-FFF2-40B4-BE49-F238E27FC236}">
                <a16:creationId xmlns:a16="http://schemas.microsoft.com/office/drawing/2014/main" id="{A85A1C47-732D-442B-9F38-E91A01B8BAA3}"/>
              </a:ext>
            </a:extLst>
          </p:cNvPr>
          <p:cNvSpPr>
            <a:spLocks noGrp="1"/>
          </p:cNvSpPr>
          <p:nvPr/>
        </p:nvSpPr>
        <p:spPr>
          <a:xfrm>
            <a:off x="647700" y="6419850"/>
            <a:ext cx="6429375"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r>
              <a:rPr lang="en-US" sz="2000" dirty="0">
                <a:solidFill>
                  <a:srgbClr val="627185"/>
                </a:solidFill>
                <a:latin typeface="Calibri"/>
              </a:rPr>
              <a:t>6G Architecture &amp; Requirements</a:t>
            </a:r>
            <a:endParaRPr lang="en-US" sz="2000" dirty="0">
              <a:solidFill>
                <a:srgbClr val="627185"/>
              </a:solidFill>
              <a:latin typeface="Calibri"/>
              <a:ea typeface="Calibri"/>
              <a:cs typeface="Calibri"/>
            </a:endParaRPr>
          </a:p>
        </p:txBody>
      </p:sp>
      <p:sp>
        <p:nvSpPr>
          <p:cNvPr id="10" name="Paper ID: [000]">
            <a:extLst>
              <a:ext uri="{FF2B5EF4-FFF2-40B4-BE49-F238E27FC236}">
                <a16:creationId xmlns:a16="http://schemas.microsoft.com/office/drawing/2014/main" id="{834DE2F1-59C2-4E01-9793-ED68A9B5841C}"/>
              </a:ext>
            </a:extLst>
          </p:cNvPr>
          <p:cNvSpPr>
            <a:spLocks noGrp="1"/>
          </p:cNvSpPr>
          <p:nvPr/>
        </p:nvSpPr>
        <p:spPr>
          <a:xfrm>
            <a:off x="8905875" y="6419850"/>
            <a:ext cx="2000250"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endParaRPr sz="2000" b="0" dirty="0">
              <a:solidFill>
                <a:srgbClr val="627185"/>
              </a:solidFill>
              <a:latin typeface="Calibri"/>
              <a:ea typeface="Calibri"/>
              <a:cs typeface="Calibri"/>
            </a:endParaRPr>
          </a:p>
        </p:txBody>
      </p:sp>
      <p:sp>
        <p:nvSpPr>
          <p:cNvPr id="11" name="10">
            <a:extLst>
              <a:ext uri="{FF2B5EF4-FFF2-40B4-BE49-F238E27FC236}">
                <a16:creationId xmlns:a16="http://schemas.microsoft.com/office/drawing/2014/main" id="{4BD800A9-8BEB-4617-AD59-E1099F2E809B}"/>
              </a:ext>
            </a:extLst>
          </p:cNvPr>
          <p:cNvSpPr>
            <a:spLocks noGrp="1"/>
          </p:cNvSpPr>
          <p:nvPr/>
        </p:nvSpPr>
        <p:spPr>
          <a:xfrm>
            <a:off x="11125200" y="6419850"/>
            <a:ext cx="419100" cy="219075"/>
          </a:xfrm>
          <a:prstGeom prst="rect">
            <a:avLst/>
          </a:prstGeom>
          <a:noFill/>
          <a:ln w="0">
            <a:noFill/>
          </a:ln>
        </p:spPr>
        <p:txBody>
          <a:bodyPr wrap="square" lIns="0" tIns="0" rIns="0" bIns="0" anchor="t">
            <a:noAutofit/>
          </a:bodyPr>
          <a:lstStyle/>
          <a:p>
            <a:pPr>
              <a:defRPr sz="1000" b="1">
                <a:solidFill>
                  <a:srgbClr val="0067A6"/>
                </a:solidFill>
                <a:latin typeface="Calibri"/>
                <a:ea typeface="Calibri"/>
                <a:cs typeface="Calibri"/>
              </a:defRPr>
            </a:pPr>
            <a:r>
              <a:rPr sz="2000" b="1">
                <a:solidFill>
                  <a:srgbClr val="0067A6"/>
                </a:solidFill>
                <a:latin typeface="Calibri"/>
                <a:ea typeface="Calibri"/>
                <a:cs typeface="Calibri"/>
              </a:rPr>
              <a:t>09</a:t>
            </a:r>
          </a:p>
        </p:txBody>
      </p:sp>
      <p:sp>
        <p:nvSpPr>
          <p:cNvPr id="12" name="[The main conclusion supported by your results]">
            <a:extLst>
              <a:ext uri="{FF2B5EF4-FFF2-40B4-BE49-F238E27FC236}">
                <a16:creationId xmlns:a16="http://schemas.microsoft.com/office/drawing/2014/main" id="{15B62364-A303-49DD-924B-38721369B85C}"/>
              </a:ext>
            </a:extLst>
          </p:cNvPr>
          <p:cNvSpPr>
            <a:spLocks noGrp="1"/>
          </p:cNvSpPr>
          <p:nvPr/>
        </p:nvSpPr>
        <p:spPr>
          <a:xfrm>
            <a:off x="666750" y="2133600"/>
            <a:ext cx="10572750" cy="971550"/>
          </a:xfrm>
          <a:prstGeom prst="rect">
            <a:avLst/>
          </a:prstGeom>
          <a:noFill/>
          <a:ln w="0">
            <a:noFill/>
          </a:ln>
        </p:spPr>
        <p:txBody>
          <a:bodyPr wrap="square" lIns="0" tIns="0" rIns="0" bIns="0" anchor="t">
            <a:noAutofit/>
          </a:bodyPr>
          <a:lstStyle/>
          <a:p>
            <a:pPr>
              <a:defRPr sz="2350" b="1">
                <a:solidFill>
                  <a:srgbClr val="0067A6"/>
                </a:solidFill>
                <a:latin typeface="Calibri"/>
                <a:ea typeface="Calibri"/>
                <a:cs typeface="Calibri"/>
              </a:defRPr>
            </a:pPr>
            <a:r>
              <a:rPr lang="en-US" sz="2350" b="1" dirty="0">
                <a:solidFill>
                  <a:srgbClr val="0067A6"/>
                </a:solidFill>
                <a:latin typeface="Calibri"/>
              </a:rPr>
              <a:t>Integrated satellite, aerial, and ground networks are promising approaches for supporting future 6G communication requirements.</a:t>
            </a:r>
          </a:p>
          <a:p>
            <a:pPr>
              <a:defRPr sz="2350" b="1">
                <a:solidFill>
                  <a:srgbClr val="0067A6"/>
                </a:solidFill>
                <a:latin typeface="Calibri"/>
                <a:ea typeface="Calibri"/>
                <a:cs typeface="Calibri"/>
              </a:defRPr>
            </a:pPr>
            <a:endParaRPr sz="2400" dirty="0">
              <a:solidFill>
                <a:srgbClr val="0067A6"/>
              </a:solidFill>
              <a:latin typeface="Calibri"/>
              <a:ea typeface="Calibri"/>
              <a:cs typeface="Calibri"/>
            </a:endParaRPr>
          </a:p>
        </p:txBody>
      </p:sp>
      <p:sp>
        <p:nvSpPr>
          <p:cNvPr id="13" name="01">
            <a:extLst>
              <a:ext uri="{FF2B5EF4-FFF2-40B4-BE49-F238E27FC236}">
                <a16:creationId xmlns:a16="http://schemas.microsoft.com/office/drawing/2014/main" id="{ED89E6B3-F936-4F87-9641-23913912514D}"/>
              </a:ext>
            </a:extLst>
          </p:cNvPr>
          <p:cNvSpPr>
            <a:spLocks noGrp="1"/>
          </p:cNvSpPr>
          <p:nvPr/>
        </p:nvSpPr>
        <p:spPr>
          <a:xfrm>
            <a:off x="666750" y="3333750"/>
            <a:ext cx="476250" cy="361950"/>
          </a:xfrm>
          <a:prstGeom prst="rect">
            <a:avLst/>
          </a:prstGeom>
          <a:noFill/>
          <a:ln w="0">
            <a:noFill/>
          </a:ln>
        </p:spPr>
        <p:txBody>
          <a:bodyPr wrap="square" lIns="0" tIns="0" rIns="0" bIns="0" anchor="t">
            <a:noAutofit/>
          </a:bodyPr>
          <a:lstStyle/>
          <a:p>
            <a:pPr>
              <a:defRPr sz="1600" b="1">
                <a:solidFill>
                  <a:srgbClr val="0067A6"/>
                </a:solidFill>
                <a:latin typeface="Calibri"/>
                <a:ea typeface="Calibri"/>
                <a:cs typeface="Calibri"/>
              </a:defRPr>
            </a:pPr>
            <a:r>
              <a:rPr sz="2400" b="1">
                <a:solidFill>
                  <a:srgbClr val="0067A6"/>
                </a:solidFill>
                <a:latin typeface="Calibri"/>
                <a:ea typeface="Calibri"/>
                <a:cs typeface="Calibri"/>
              </a:rPr>
              <a:t>01</a:t>
            </a:r>
          </a:p>
        </p:txBody>
      </p:sp>
      <p:sp>
        <p:nvSpPr>
          <p:cNvPr id="14" name="[Primary contribution]">
            <a:extLst>
              <a:ext uri="{FF2B5EF4-FFF2-40B4-BE49-F238E27FC236}">
                <a16:creationId xmlns:a16="http://schemas.microsoft.com/office/drawing/2014/main" id="{16FC63B3-03B3-4FE2-B73B-519B0A96FE9B}"/>
              </a:ext>
            </a:extLst>
          </p:cNvPr>
          <p:cNvSpPr>
            <a:spLocks noGrp="1"/>
          </p:cNvSpPr>
          <p:nvPr/>
        </p:nvSpPr>
        <p:spPr>
          <a:xfrm>
            <a:off x="1371600" y="3333750"/>
            <a:ext cx="9867900" cy="742950"/>
          </a:xfrm>
          <a:prstGeom prst="rect">
            <a:avLst/>
          </a:prstGeom>
          <a:noFill/>
          <a:ln w="0">
            <a:noFill/>
          </a:ln>
        </p:spPr>
        <p:txBody>
          <a:bodyPr wrap="square" lIns="0" tIns="0" rIns="0" bIns="0" anchor="t">
            <a:noAutofit/>
          </a:bodyPr>
          <a:lstStyle/>
          <a:p>
            <a:r>
              <a:rPr lang="en-US" sz="2400" dirty="0"/>
              <a:t>Study the architecture and performance requirements of integrated 6G networks.</a:t>
            </a:r>
          </a:p>
          <a:p>
            <a:pPr>
              <a:defRPr sz="1950" b="0">
                <a:solidFill>
                  <a:srgbClr val="12263D"/>
                </a:solidFill>
                <a:latin typeface="Calibri"/>
                <a:ea typeface="Calibri"/>
                <a:cs typeface="Calibri"/>
              </a:defRPr>
            </a:pPr>
            <a:endParaRPr sz="2400" b="0" dirty="0">
              <a:solidFill>
                <a:srgbClr val="12263D"/>
              </a:solidFill>
              <a:latin typeface="Calibri"/>
              <a:ea typeface="Calibri"/>
              <a:cs typeface="Calibri"/>
            </a:endParaRPr>
          </a:p>
        </p:txBody>
      </p:sp>
      <p:sp>
        <p:nvSpPr>
          <p:cNvPr id="15" name="02">
            <a:extLst>
              <a:ext uri="{FF2B5EF4-FFF2-40B4-BE49-F238E27FC236}">
                <a16:creationId xmlns:a16="http://schemas.microsoft.com/office/drawing/2014/main" id="{E41CDE10-BF6E-4B37-A80C-A5107B52EC50}"/>
              </a:ext>
            </a:extLst>
          </p:cNvPr>
          <p:cNvSpPr>
            <a:spLocks noGrp="1"/>
          </p:cNvSpPr>
          <p:nvPr/>
        </p:nvSpPr>
        <p:spPr>
          <a:xfrm>
            <a:off x="666750" y="4248150"/>
            <a:ext cx="476250" cy="361950"/>
          </a:xfrm>
          <a:prstGeom prst="rect">
            <a:avLst/>
          </a:prstGeom>
          <a:noFill/>
          <a:ln w="0">
            <a:noFill/>
          </a:ln>
        </p:spPr>
        <p:txBody>
          <a:bodyPr wrap="square" lIns="0" tIns="0" rIns="0" bIns="0" anchor="t">
            <a:noAutofit/>
          </a:bodyPr>
          <a:lstStyle/>
          <a:p>
            <a:pPr>
              <a:defRPr sz="1600" b="1">
                <a:solidFill>
                  <a:srgbClr val="0067A6"/>
                </a:solidFill>
                <a:latin typeface="Calibri"/>
                <a:ea typeface="Calibri"/>
                <a:cs typeface="Calibri"/>
              </a:defRPr>
            </a:pPr>
            <a:r>
              <a:rPr sz="2400" b="1">
                <a:solidFill>
                  <a:srgbClr val="0067A6"/>
                </a:solidFill>
                <a:latin typeface="Calibri"/>
                <a:ea typeface="Calibri"/>
                <a:cs typeface="Calibri"/>
              </a:rPr>
              <a:t>02</a:t>
            </a:r>
          </a:p>
        </p:txBody>
      </p:sp>
      <p:sp>
        <p:nvSpPr>
          <p:cNvPr id="16" name="[Important limitation or scope boundary]">
            <a:extLst>
              <a:ext uri="{FF2B5EF4-FFF2-40B4-BE49-F238E27FC236}">
                <a16:creationId xmlns:a16="http://schemas.microsoft.com/office/drawing/2014/main" id="{9AE013EA-DD61-4348-87BF-B8DE01CF2647}"/>
              </a:ext>
            </a:extLst>
          </p:cNvPr>
          <p:cNvSpPr>
            <a:spLocks noGrp="1"/>
          </p:cNvSpPr>
          <p:nvPr/>
        </p:nvSpPr>
        <p:spPr>
          <a:xfrm>
            <a:off x="1371600" y="4248150"/>
            <a:ext cx="9867900" cy="742950"/>
          </a:xfrm>
          <a:prstGeom prst="rect">
            <a:avLst/>
          </a:prstGeom>
          <a:noFill/>
          <a:ln w="0">
            <a:noFill/>
          </a:ln>
        </p:spPr>
        <p:txBody>
          <a:bodyPr wrap="square" lIns="0" tIns="0" rIns="0" bIns="0" anchor="t">
            <a:noAutofit/>
          </a:bodyPr>
          <a:lstStyle/>
          <a:p>
            <a:r>
              <a:rPr lang="en-US" sz="2400" dirty="0"/>
              <a:t>Simulation results may differ from real-world performance because of signal loss, hardware limitations, and environmental conditions.</a:t>
            </a:r>
          </a:p>
          <a:p>
            <a:pPr>
              <a:defRPr sz="1950" b="0">
                <a:solidFill>
                  <a:srgbClr val="12263D"/>
                </a:solidFill>
                <a:latin typeface="Calibri"/>
                <a:ea typeface="Calibri"/>
                <a:cs typeface="Calibri"/>
              </a:defRPr>
            </a:pPr>
            <a:endParaRPr sz="3200" b="0" dirty="0">
              <a:solidFill>
                <a:srgbClr val="12263D"/>
              </a:solidFill>
              <a:latin typeface="Calibri"/>
              <a:ea typeface="Calibri"/>
              <a:cs typeface="Calibri"/>
            </a:endParaRPr>
          </a:p>
        </p:txBody>
      </p:sp>
      <p:sp>
        <p:nvSpPr>
          <p:cNvPr id="17" name="03">
            <a:extLst>
              <a:ext uri="{FF2B5EF4-FFF2-40B4-BE49-F238E27FC236}">
                <a16:creationId xmlns:a16="http://schemas.microsoft.com/office/drawing/2014/main" id="{5755F2FD-82EC-49A6-8A91-31FC34D9E34A}"/>
              </a:ext>
            </a:extLst>
          </p:cNvPr>
          <p:cNvSpPr>
            <a:spLocks noGrp="1"/>
          </p:cNvSpPr>
          <p:nvPr/>
        </p:nvSpPr>
        <p:spPr>
          <a:xfrm>
            <a:off x="666750" y="5162550"/>
            <a:ext cx="476250" cy="361950"/>
          </a:xfrm>
          <a:prstGeom prst="rect">
            <a:avLst/>
          </a:prstGeom>
          <a:noFill/>
          <a:ln w="0">
            <a:noFill/>
          </a:ln>
        </p:spPr>
        <p:txBody>
          <a:bodyPr wrap="square" lIns="0" tIns="0" rIns="0" bIns="0" anchor="t">
            <a:noAutofit/>
          </a:bodyPr>
          <a:lstStyle/>
          <a:p>
            <a:pPr>
              <a:defRPr sz="1600" b="1">
                <a:solidFill>
                  <a:srgbClr val="0067A6"/>
                </a:solidFill>
                <a:latin typeface="Calibri"/>
                <a:ea typeface="Calibri"/>
                <a:cs typeface="Calibri"/>
              </a:defRPr>
            </a:pPr>
            <a:r>
              <a:rPr sz="2400" b="1">
                <a:solidFill>
                  <a:srgbClr val="0067A6"/>
                </a:solidFill>
                <a:latin typeface="Calibri"/>
                <a:ea typeface="Calibri"/>
                <a:cs typeface="Calibri"/>
              </a:rPr>
              <a:t>03</a:t>
            </a:r>
          </a:p>
        </p:txBody>
      </p:sp>
      <p:sp>
        <p:nvSpPr>
          <p:cNvPr id="18" name="[Next research step]">
            <a:extLst>
              <a:ext uri="{FF2B5EF4-FFF2-40B4-BE49-F238E27FC236}">
                <a16:creationId xmlns:a16="http://schemas.microsoft.com/office/drawing/2014/main" id="{56481D09-538C-4B83-816C-D78D251E62FD}"/>
              </a:ext>
            </a:extLst>
          </p:cNvPr>
          <p:cNvSpPr>
            <a:spLocks noGrp="1"/>
          </p:cNvSpPr>
          <p:nvPr/>
        </p:nvSpPr>
        <p:spPr>
          <a:xfrm>
            <a:off x="1371600" y="5162550"/>
            <a:ext cx="9867900" cy="742950"/>
          </a:xfrm>
          <a:prstGeom prst="rect">
            <a:avLst/>
          </a:prstGeom>
          <a:noFill/>
          <a:ln w="0">
            <a:noFill/>
          </a:ln>
        </p:spPr>
        <p:txBody>
          <a:bodyPr wrap="square" lIns="0" tIns="0" rIns="0" bIns="0" anchor="t">
            <a:noAutofit/>
          </a:bodyPr>
          <a:lstStyle/>
          <a:p>
            <a:r>
              <a:rPr lang="en-US" sz="2400" dirty="0"/>
              <a:t>Develop more realistic simulations and investigate AI-based resource management and energy-efficient network design.</a:t>
            </a:r>
          </a:p>
        </p:txBody>
      </p:sp>
      <p:pic>
        <p:nvPicPr>
          <p:cNvPr id="3" name="Picture 2" descr="image.png">
            <a:extLst>
              <a:ext uri="{FF2B5EF4-FFF2-40B4-BE49-F238E27FC236}">
                <a16:creationId xmlns:a16="http://schemas.microsoft.com/office/drawing/2014/main" id="{DA1DAA7B-6CD4-56AF-318F-998CB75305C0}"/>
              </a:ext>
            </a:extLst>
          </p:cNvPr>
          <p:cNvPicPr>
            <a:picLocks noChangeAspect="1"/>
          </p:cNvPicPr>
          <p:nvPr/>
        </p:nvPicPr>
        <p:blipFill>
          <a:blip r:embed="rId3"/>
          <a:stretch>
            <a:fillRect/>
          </a:stretch>
        </p:blipFill>
        <p:spPr>
          <a:xfrm>
            <a:off x="10950688" y="75407"/>
            <a:ext cx="1187224" cy="1163637"/>
          </a:xfrm>
          <a:prstGeom prst="rect">
            <a:avLst/>
          </a:prstGeom>
        </p:spPr>
      </p:pic>
    </p:spTree>
    <p:extLst>
      <p:ext uri="{BB962C8B-B14F-4D97-AF65-F5344CB8AC3E}">
        <p14:creationId xmlns:p14="http://schemas.microsoft.com/office/powerpoint/2010/main" val="2223144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elected references">
            <a:extLst>
              <a:ext uri="{FF2B5EF4-FFF2-40B4-BE49-F238E27FC236}">
                <a16:creationId xmlns:a16="http://schemas.microsoft.com/office/drawing/2014/main" id="{4836F279-2213-4742-AE3E-1CFD98E662B7}"/>
              </a:ext>
            </a:extLst>
          </p:cNvPr>
          <p:cNvSpPr>
            <a:spLocks noGrp="1"/>
          </p:cNvSpPr>
          <p:nvPr/>
        </p:nvSpPr>
        <p:spPr>
          <a:xfrm>
            <a:off x="647700" y="1181100"/>
            <a:ext cx="10810875" cy="628650"/>
          </a:xfrm>
          <a:prstGeom prst="rect">
            <a:avLst/>
          </a:prstGeom>
          <a:noFill/>
          <a:ln w="0">
            <a:noFill/>
          </a:ln>
        </p:spPr>
        <p:txBody>
          <a:bodyPr wrap="square" lIns="0" tIns="0" rIns="0" bIns="0" anchor="t">
            <a:noAutofit/>
          </a:bodyPr>
          <a:lstStyle/>
          <a:p>
            <a:pPr>
              <a:defRPr sz="2900" b="1">
                <a:solidFill>
                  <a:srgbClr val="12263D"/>
                </a:solidFill>
                <a:latin typeface="Calibri"/>
                <a:ea typeface="Calibri"/>
                <a:cs typeface="Calibri"/>
              </a:defRPr>
            </a:pPr>
            <a:r>
              <a:rPr sz="3600" b="1" dirty="0">
                <a:solidFill>
                  <a:srgbClr val="12263D"/>
                </a:solidFill>
                <a:latin typeface="Calibri"/>
                <a:ea typeface="Calibri"/>
                <a:cs typeface="Calibri"/>
              </a:rPr>
              <a:t>Selected </a:t>
            </a:r>
            <a:r>
              <a:rPr lang="en-US" sz="3600" b="1" dirty="0">
                <a:solidFill>
                  <a:srgbClr val="12263D"/>
                </a:solidFill>
                <a:latin typeface="Calibri"/>
                <a:ea typeface="Calibri"/>
                <a:cs typeface="Calibri"/>
              </a:rPr>
              <a:t>R</a:t>
            </a:r>
            <a:r>
              <a:rPr sz="3600" b="1" dirty="0">
                <a:solidFill>
                  <a:srgbClr val="12263D"/>
                </a:solidFill>
                <a:latin typeface="Calibri"/>
                <a:ea typeface="Calibri"/>
                <a:cs typeface="Calibri"/>
              </a:rPr>
              <a:t>eferences</a:t>
            </a:r>
          </a:p>
        </p:txBody>
      </p:sp>
      <p:sp>
        <p:nvSpPr>
          <p:cNvPr id="7" name="Straight Connector 6">
            <a:extLst>
              <a:ext uri="{FF2B5EF4-FFF2-40B4-BE49-F238E27FC236}">
                <a16:creationId xmlns:a16="http://schemas.microsoft.com/office/drawing/2014/main" id="{8BF398B2-FC6D-4A2B-9971-9B5D85B1A2CC}"/>
              </a:ext>
            </a:extLst>
          </p:cNvPr>
          <p:cNvSpPr>
            <a:spLocks noGrp="1"/>
          </p:cNvSpPr>
          <p:nvPr/>
        </p:nvSpPr>
        <p:spPr>
          <a:xfrm>
            <a:off x="647700" y="1933575"/>
            <a:ext cx="10896600" cy="0"/>
          </a:xfrm>
          <a:prstGeom prst="line">
            <a:avLst/>
          </a:prstGeom>
          <a:noFill/>
          <a:ln w="9525">
            <a:solidFill>
              <a:srgbClr val="D7E1E9"/>
            </a:solidFill>
          </a:ln>
        </p:spPr>
        <p:txBody>
          <a:bodyPr/>
          <a:lstStyle/>
          <a:p>
            <a:endParaRPr lang="en-GB"/>
          </a:p>
        </p:txBody>
      </p:sp>
      <p:sp>
        <p:nvSpPr>
          <p:cNvPr id="8" name="Straight Connector 7">
            <a:extLst>
              <a:ext uri="{FF2B5EF4-FFF2-40B4-BE49-F238E27FC236}">
                <a16:creationId xmlns:a16="http://schemas.microsoft.com/office/drawing/2014/main" id="{E4B8024E-9A67-4588-A402-512F49598C8B}"/>
              </a:ext>
            </a:extLst>
          </p:cNvPr>
          <p:cNvSpPr>
            <a:spLocks noGrp="1"/>
          </p:cNvSpPr>
          <p:nvPr/>
        </p:nvSpPr>
        <p:spPr>
          <a:xfrm>
            <a:off x="647700" y="6238875"/>
            <a:ext cx="10896600" cy="0"/>
          </a:xfrm>
          <a:prstGeom prst="line">
            <a:avLst/>
          </a:prstGeom>
          <a:noFill/>
          <a:ln w="9525">
            <a:solidFill>
              <a:srgbClr val="D7E1E9"/>
            </a:solidFill>
          </a:ln>
        </p:spPr>
        <p:txBody>
          <a:bodyPr/>
          <a:lstStyle/>
          <a:p>
            <a:endParaRPr lang="en-GB" sz="2000"/>
          </a:p>
        </p:txBody>
      </p:sp>
      <p:sp>
        <p:nvSpPr>
          <p:cNvPr id="9" name="[Short paper title]">
            <a:extLst>
              <a:ext uri="{FF2B5EF4-FFF2-40B4-BE49-F238E27FC236}">
                <a16:creationId xmlns:a16="http://schemas.microsoft.com/office/drawing/2014/main" id="{C9405947-7817-4F64-B16C-9591EB5FC09E}"/>
              </a:ext>
            </a:extLst>
          </p:cNvPr>
          <p:cNvSpPr>
            <a:spLocks noGrp="1"/>
          </p:cNvSpPr>
          <p:nvPr/>
        </p:nvSpPr>
        <p:spPr>
          <a:xfrm>
            <a:off x="647700" y="6419850"/>
            <a:ext cx="6429375"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endParaRPr sz="2000" b="0" dirty="0">
              <a:solidFill>
                <a:srgbClr val="627185"/>
              </a:solidFill>
              <a:latin typeface="Calibri"/>
              <a:ea typeface="Calibri"/>
              <a:cs typeface="Calibri"/>
            </a:endParaRPr>
          </a:p>
        </p:txBody>
      </p:sp>
      <p:sp>
        <p:nvSpPr>
          <p:cNvPr id="10" name="Paper ID: [000]">
            <a:extLst>
              <a:ext uri="{FF2B5EF4-FFF2-40B4-BE49-F238E27FC236}">
                <a16:creationId xmlns:a16="http://schemas.microsoft.com/office/drawing/2014/main" id="{EF2DAFC3-16D9-4D9D-9F72-1FC0E876ECF9}"/>
              </a:ext>
            </a:extLst>
          </p:cNvPr>
          <p:cNvSpPr>
            <a:spLocks noGrp="1"/>
          </p:cNvSpPr>
          <p:nvPr/>
        </p:nvSpPr>
        <p:spPr>
          <a:xfrm>
            <a:off x="8905875" y="6419850"/>
            <a:ext cx="2000250"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endParaRPr sz="2000" b="0" dirty="0">
              <a:solidFill>
                <a:srgbClr val="627185"/>
              </a:solidFill>
              <a:latin typeface="Calibri"/>
              <a:ea typeface="Calibri"/>
              <a:cs typeface="Calibri"/>
            </a:endParaRPr>
          </a:p>
        </p:txBody>
      </p:sp>
      <p:sp>
        <p:nvSpPr>
          <p:cNvPr id="11" name="11">
            <a:extLst>
              <a:ext uri="{FF2B5EF4-FFF2-40B4-BE49-F238E27FC236}">
                <a16:creationId xmlns:a16="http://schemas.microsoft.com/office/drawing/2014/main" id="{FF32B62C-0D32-42CB-B523-68D37519BF4F}"/>
              </a:ext>
            </a:extLst>
          </p:cNvPr>
          <p:cNvSpPr>
            <a:spLocks noGrp="1"/>
          </p:cNvSpPr>
          <p:nvPr/>
        </p:nvSpPr>
        <p:spPr>
          <a:xfrm>
            <a:off x="11125200" y="6419850"/>
            <a:ext cx="419100" cy="219075"/>
          </a:xfrm>
          <a:prstGeom prst="rect">
            <a:avLst/>
          </a:prstGeom>
          <a:noFill/>
          <a:ln w="0">
            <a:noFill/>
          </a:ln>
        </p:spPr>
        <p:txBody>
          <a:bodyPr wrap="square" lIns="0" tIns="0" rIns="0" bIns="0" anchor="t">
            <a:noAutofit/>
          </a:bodyPr>
          <a:lstStyle/>
          <a:p>
            <a:pPr>
              <a:defRPr sz="1000" b="1">
                <a:solidFill>
                  <a:srgbClr val="0067A6"/>
                </a:solidFill>
                <a:latin typeface="Calibri"/>
                <a:ea typeface="Calibri"/>
                <a:cs typeface="Calibri"/>
              </a:defRPr>
            </a:pPr>
            <a:r>
              <a:rPr sz="2000" b="1">
                <a:solidFill>
                  <a:srgbClr val="0067A6"/>
                </a:solidFill>
                <a:latin typeface="Calibri"/>
                <a:ea typeface="Calibri"/>
                <a:cs typeface="Calibri"/>
              </a:rPr>
              <a:t>10</a:t>
            </a:r>
          </a:p>
        </p:txBody>
      </p:sp>
      <p:sp>
        <p:nvSpPr>
          <p:cNvPr id="12" name="[1] [Author(s)], “Paper title,” Venue, year.&#10;&#10;[2] [Author(s)], “P">
            <a:extLst>
              <a:ext uri="{FF2B5EF4-FFF2-40B4-BE49-F238E27FC236}">
                <a16:creationId xmlns:a16="http://schemas.microsoft.com/office/drawing/2014/main" id="{AA090AF3-2C17-4C9E-AE06-C3F6D17EFB51}"/>
              </a:ext>
            </a:extLst>
          </p:cNvPr>
          <p:cNvSpPr>
            <a:spLocks noGrp="1"/>
          </p:cNvSpPr>
          <p:nvPr/>
        </p:nvSpPr>
        <p:spPr>
          <a:xfrm>
            <a:off x="647700" y="2210480"/>
            <a:ext cx="10572750" cy="3286125"/>
          </a:xfrm>
          <a:prstGeom prst="rect">
            <a:avLst/>
          </a:prstGeom>
          <a:noFill/>
          <a:ln w="0">
            <a:noFill/>
          </a:ln>
        </p:spPr>
        <p:txBody>
          <a:bodyPr wrap="square" lIns="0" tIns="0" rIns="0" bIns="0" anchor="t">
            <a:noAutofit/>
          </a:bodyPr>
          <a:lstStyle/>
          <a:p>
            <a:r>
              <a:rPr lang="en-US" sz="2000" i="1" dirty="0"/>
              <a:t>[1] ITU-R, “Framework and overall objectives of the future development of IMT for 2030 and beyond,” Recommendation ITU-R M.2160-0, 2023.</a:t>
            </a:r>
          </a:p>
          <a:p>
            <a:endParaRPr lang="en-US" sz="2000" i="1" dirty="0"/>
          </a:p>
          <a:p>
            <a:r>
              <a:rPr lang="en-US" sz="2000" i="1" dirty="0"/>
              <a:t>[2] Smart Networks and Services Joint Undertaking (SNS JU), 6G KPIs – Definitions and Target Values, technical report.</a:t>
            </a:r>
          </a:p>
          <a:p>
            <a:endParaRPr lang="en-US" sz="2000" i="1" dirty="0"/>
          </a:p>
          <a:p>
            <a:r>
              <a:rPr lang="en-US" sz="2000" i="1" dirty="0"/>
              <a:t>[3] V. R. </a:t>
            </a:r>
            <a:r>
              <a:rPr lang="en-US" sz="2000" i="1" dirty="0" err="1"/>
              <a:t>Farré</a:t>
            </a:r>
            <a:r>
              <a:rPr lang="en-US" sz="2000" i="1" dirty="0"/>
              <a:t> Guijarro et al., “AI-Driven Framework for 6G Radio Access Network (RAN) Planning and Dimensioning: Theory and System-Level Simulation,” IEEE Access, vol. 14, pp. 45863–45881, 2026. </a:t>
            </a:r>
            <a:r>
              <a:rPr lang="en-US" sz="2000" i="1" dirty="0">
                <a:hlinkClick r:id="rId3"/>
              </a:rPr>
              <a:t>https://doi.org/10.1109/ACCESS.2026.3671648</a:t>
            </a:r>
            <a:endParaRPr lang="en-US" sz="2000" i="1" dirty="0"/>
          </a:p>
          <a:p>
            <a:endParaRPr lang="en-US" sz="2000" i="1" dirty="0"/>
          </a:p>
          <a:p>
            <a:r>
              <a:rPr lang="en-US" sz="2000" i="1" dirty="0"/>
              <a:t>[4] N. Cheng et al., “6G Service-Oriented Space-Air-Ground Integrated Network: A Survey,” Chinese Journal of Aeronautics, vol. 35, no. 9, pp. 1–18, 2022. </a:t>
            </a:r>
            <a:r>
              <a:rPr lang="en-US" sz="2000" i="1" dirty="0">
                <a:hlinkClick r:id="rId4"/>
              </a:rPr>
              <a:t>https://doi.org/10.1016/j.cja.2021.12.013</a:t>
            </a:r>
            <a:endParaRPr lang="en-US" sz="2000" i="1" dirty="0"/>
          </a:p>
        </p:txBody>
      </p:sp>
      <p:sp>
        <p:nvSpPr>
          <p:cNvPr id="3" name="TextBox 2">
            <a:extLst>
              <a:ext uri="{FF2B5EF4-FFF2-40B4-BE49-F238E27FC236}">
                <a16:creationId xmlns:a16="http://schemas.microsoft.com/office/drawing/2014/main" id="{F1A64C8E-E795-6267-85A4-16D115DA265D}"/>
              </a:ext>
            </a:extLst>
          </p:cNvPr>
          <p:cNvSpPr txBox="1"/>
          <p:nvPr/>
        </p:nvSpPr>
        <p:spPr>
          <a:xfrm>
            <a:off x="647700" y="6366782"/>
            <a:ext cx="6096000" cy="400110"/>
          </a:xfrm>
          <a:prstGeom prst="rect">
            <a:avLst/>
          </a:prstGeom>
          <a:noFill/>
        </p:spPr>
        <p:txBody>
          <a:bodyPr wrap="square">
            <a:spAutoFit/>
          </a:bodyPr>
          <a:lstStyle/>
          <a:p>
            <a:pPr>
              <a:defRPr sz="1000" b="0">
                <a:solidFill>
                  <a:srgbClr val="627185"/>
                </a:solidFill>
                <a:latin typeface="Calibri"/>
                <a:ea typeface="Calibri"/>
                <a:cs typeface="Calibri"/>
              </a:defRPr>
            </a:pPr>
            <a:r>
              <a:rPr lang="en-US" sz="2000" dirty="0">
                <a:solidFill>
                  <a:srgbClr val="627185"/>
                </a:solidFill>
                <a:latin typeface="Calibri"/>
              </a:rPr>
              <a:t>6G Architecture &amp; Requirements</a:t>
            </a:r>
            <a:endParaRPr lang="en-US" sz="2000" b="0" dirty="0">
              <a:solidFill>
                <a:srgbClr val="627185"/>
              </a:solidFill>
              <a:latin typeface="Calibri"/>
              <a:ea typeface="Calibri"/>
              <a:cs typeface="Calibri"/>
            </a:endParaRPr>
          </a:p>
        </p:txBody>
      </p:sp>
      <p:pic>
        <p:nvPicPr>
          <p:cNvPr id="4" name="Picture 3" descr="image.png">
            <a:extLst>
              <a:ext uri="{FF2B5EF4-FFF2-40B4-BE49-F238E27FC236}">
                <a16:creationId xmlns:a16="http://schemas.microsoft.com/office/drawing/2014/main" id="{BBCF3FFB-9212-0D71-66A9-CD84D43A9D42}"/>
              </a:ext>
            </a:extLst>
          </p:cNvPr>
          <p:cNvPicPr>
            <a:picLocks noChangeAspect="1"/>
          </p:cNvPicPr>
          <p:nvPr/>
        </p:nvPicPr>
        <p:blipFill>
          <a:blip r:embed="rId5"/>
          <a:stretch>
            <a:fillRect/>
          </a:stretch>
        </p:blipFill>
        <p:spPr>
          <a:xfrm>
            <a:off x="10950688" y="75407"/>
            <a:ext cx="1187224" cy="1163637"/>
          </a:xfrm>
          <a:prstGeom prst="rect">
            <a:avLst/>
          </a:prstGeom>
        </p:spPr>
      </p:pic>
    </p:spTree>
    <p:extLst>
      <p:ext uri="{BB962C8B-B14F-4D97-AF65-F5344CB8AC3E}">
        <p14:creationId xmlns:p14="http://schemas.microsoft.com/office/powerpoint/2010/main" val="2742884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hank you">
            <a:extLst>
              <a:ext uri="{FF2B5EF4-FFF2-40B4-BE49-F238E27FC236}">
                <a16:creationId xmlns:a16="http://schemas.microsoft.com/office/drawing/2014/main" id="{08330104-10CC-43F9-905C-0CA241AC18D0}"/>
              </a:ext>
            </a:extLst>
          </p:cNvPr>
          <p:cNvSpPr>
            <a:spLocks noGrp="1"/>
          </p:cNvSpPr>
          <p:nvPr/>
        </p:nvSpPr>
        <p:spPr>
          <a:xfrm>
            <a:off x="647700" y="1181100"/>
            <a:ext cx="10810875" cy="628650"/>
          </a:xfrm>
          <a:prstGeom prst="rect">
            <a:avLst/>
          </a:prstGeom>
          <a:noFill/>
          <a:ln w="0">
            <a:noFill/>
          </a:ln>
        </p:spPr>
        <p:txBody>
          <a:bodyPr wrap="square" lIns="0" tIns="0" rIns="0" bIns="0" anchor="t">
            <a:noAutofit/>
          </a:bodyPr>
          <a:lstStyle/>
          <a:p>
            <a:pPr>
              <a:defRPr sz="2900" b="1">
                <a:solidFill>
                  <a:srgbClr val="12263D"/>
                </a:solidFill>
                <a:latin typeface="Calibri"/>
                <a:ea typeface="Calibri"/>
                <a:cs typeface="Calibri"/>
              </a:defRPr>
            </a:pPr>
            <a:r>
              <a:rPr sz="3600" b="1" dirty="0">
                <a:solidFill>
                  <a:srgbClr val="12263D"/>
                </a:solidFill>
                <a:latin typeface="Calibri"/>
                <a:ea typeface="Calibri"/>
                <a:cs typeface="Calibri"/>
              </a:rPr>
              <a:t>Thank you</a:t>
            </a:r>
          </a:p>
        </p:txBody>
      </p:sp>
      <p:sp>
        <p:nvSpPr>
          <p:cNvPr id="7" name="Straight Connector 6">
            <a:extLst>
              <a:ext uri="{FF2B5EF4-FFF2-40B4-BE49-F238E27FC236}">
                <a16:creationId xmlns:a16="http://schemas.microsoft.com/office/drawing/2014/main" id="{F8D3E64B-3C0A-4AC0-BCD5-EEE37A4691C8}"/>
              </a:ext>
            </a:extLst>
          </p:cNvPr>
          <p:cNvSpPr>
            <a:spLocks noGrp="1"/>
          </p:cNvSpPr>
          <p:nvPr/>
        </p:nvSpPr>
        <p:spPr>
          <a:xfrm>
            <a:off x="647700" y="1933575"/>
            <a:ext cx="10896600" cy="0"/>
          </a:xfrm>
          <a:prstGeom prst="line">
            <a:avLst/>
          </a:prstGeom>
          <a:noFill/>
          <a:ln w="9525">
            <a:solidFill>
              <a:srgbClr val="D7E1E9"/>
            </a:solidFill>
          </a:ln>
        </p:spPr>
        <p:txBody>
          <a:bodyPr/>
          <a:lstStyle/>
          <a:p>
            <a:endParaRPr lang="en-GB"/>
          </a:p>
        </p:txBody>
      </p:sp>
      <p:sp>
        <p:nvSpPr>
          <p:cNvPr id="8" name="Straight Connector 7">
            <a:extLst>
              <a:ext uri="{FF2B5EF4-FFF2-40B4-BE49-F238E27FC236}">
                <a16:creationId xmlns:a16="http://schemas.microsoft.com/office/drawing/2014/main" id="{A40AD5F5-0A1F-419A-A412-666A20575721}"/>
              </a:ext>
            </a:extLst>
          </p:cNvPr>
          <p:cNvSpPr>
            <a:spLocks noGrp="1"/>
          </p:cNvSpPr>
          <p:nvPr/>
        </p:nvSpPr>
        <p:spPr>
          <a:xfrm>
            <a:off x="647700" y="6238875"/>
            <a:ext cx="10896600" cy="0"/>
          </a:xfrm>
          <a:prstGeom prst="line">
            <a:avLst/>
          </a:prstGeom>
          <a:noFill/>
          <a:ln w="9525">
            <a:solidFill>
              <a:srgbClr val="D7E1E9"/>
            </a:solidFill>
          </a:ln>
        </p:spPr>
        <p:txBody>
          <a:bodyPr/>
          <a:lstStyle/>
          <a:p>
            <a:endParaRPr lang="en-GB" sz="2000"/>
          </a:p>
        </p:txBody>
      </p:sp>
      <p:sp>
        <p:nvSpPr>
          <p:cNvPr id="9" name="[Short paper title]">
            <a:extLst>
              <a:ext uri="{FF2B5EF4-FFF2-40B4-BE49-F238E27FC236}">
                <a16:creationId xmlns:a16="http://schemas.microsoft.com/office/drawing/2014/main" id="{F99CB262-3B67-4B75-A698-AE379A335230}"/>
              </a:ext>
            </a:extLst>
          </p:cNvPr>
          <p:cNvSpPr>
            <a:spLocks noGrp="1"/>
          </p:cNvSpPr>
          <p:nvPr/>
        </p:nvSpPr>
        <p:spPr>
          <a:xfrm>
            <a:off x="647700" y="6419849"/>
            <a:ext cx="6429375"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r>
              <a:rPr lang="en-US" sz="2000" dirty="0">
                <a:solidFill>
                  <a:srgbClr val="627185"/>
                </a:solidFill>
                <a:latin typeface="Calibri"/>
              </a:rPr>
              <a:t>6G Architecture &amp; Requirements</a:t>
            </a:r>
            <a:endParaRPr lang="en-US" sz="2000" dirty="0">
              <a:solidFill>
                <a:srgbClr val="627185"/>
              </a:solidFill>
              <a:latin typeface="Calibri"/>
              <a:ea typeface="Calibri"/>
              <a:cs typeface="Calibri"/>
            </a:endParaRPr>
          </a:p>
        </p:txBody>
      </p:sp>
      <p:sp>
        <p:nvSpPr>
          <p:cNvPr id="10" name="Paper ID: [000]">
            <a:extLst>
              <a:ext uri="{FF2B5EF4-FFF2-40B4-BE49-F238E27FC236}">
                <a16:creationId xmlns:a16="http://schemas.microsoft.com/office/drawing/2014/main" id="{39A49BD6-5F02-4A09-A053-FFCB789D07AB}"/>
              </a:ext>
            </a:extLst>
          </p:cNvPr>
          <p:cNvSpPr>
            <a:spLocks noGrp="1"/>
          </p:cNvSpPr>
          <p:nvPr/>
        </p:nvSpPr>
        <p:spPr>
          <a:xfrm>
            <a:off x="8905875" y="6419850"/>
            <a:ext cx="2000250" cy="219075"/>
          </a:xfrm>
          <a:prstGeom prst="rect">
            <a:avLst/>
          </a:prstGeom>
          <a:noFill/>
          <a:ln w="0">
            <a:noFill/>
          </a:ln>
        </p:spPr>
        <p:txBody>
          <a:bodyPr wrap="square" lIns="0" tIns="0" rIns="0" bIns="0" anchor="t">
            <a:noAutofit/>
          </a:bodyPr>
          <a:lstStyle/>
          <a:p>
            <a:pPr>
              <a:defRPr sz="1000" b="0">
                <a:solidFill>
                  <a:srgbClr val="627185"/>
                </a:solidFill>
                <a:latin typeface="Calibri"/>
                <a:ea typeface="Calibri"/>
                <a:cs typeface="Calibri"/>
              </a:defRPr>
            </a:pPr>
            <a:endParaRPr sz="2000" b="0" dirty="0">
              <a:solidFill>
                <a:srgbClr val="627185"/>
              </a:solidFill>
              <a:latin typeface="Calibri"/>
              <a:ea typeface="Calibri"/>
              <a:cs typeface="Calibri"/>
            </a:endParaRPr>
          </a:p>
        </p:txBody>
      </p:sp>
      <p:sp>
        <p:nvSpPr>
          <p:cNvPr id="11" name="12">
            <a:extLst>
              <a:ext uri="{FF2B5EF4-FFF2-40B4-BE49-F238E27FC236}">
                <a16:creationId xmlns:a16="http://schemas.microsoft.com/office/drawing/2014/main" id="{6F6B6A6D-0165-4B98-957F-48A48241ACC6}"/>
              </a:ext>
            </a:extLst>
          </p:cNvPr>
          <p:cNvSpPr>
            <a:spLocks noGrp="1"/>
          </p:cNvSpPr>
          <p:nvPr/>
        </p:nvSpPr>
        <p:spPr>
          <a:xfrm>
            <a:off x="11125200" y="6419850"/>
            <a:ext cx="419100" cy="219075"/>
          </a:xfrm>
          <a:prstGeom prst="rect">
            <a:avLst/>
          </a:prstGeom>
          <a:noFill/>
          <a:ln w="0">
            <a:noFill/>
          </a:ln>
        </p:spPr>
        <p:txBody>
          <a:bodyPr wrap="square" lIns="0" tIns="0" rIns="0" bIns="0" anchor="t">
            <a:noAutofit/>
          </a:bodyPr>
          <a:lstStyle/>
          <a:p>
            <a:pPr>
              <a:defRPr sz="1000" b="1">
                <a:solidFill>
                  <a:srgbClr val="0067A6"/>
                </a:solidFill>
                <a:latin typeface="Calibri"/>
                <a:ea typeface="Calibri"/>
                <a:cs typeface="Calibri"/>
              </a:defRPr>
            </a:pPr>
            <a:r>
              <a:rPr sz="2000" b="1">
                <a:solidFill>
                  <a:srgbClr val="0067A6"/>
                </a:solidFill>
                <a:latin typeface="Calibri"/>
                <a:ea typeface="Calibri"/>
                <a:cs typeface="Calibri"/>
              </a:rPr>
              <a:t>11</a:t>
            </a:r>
          </a:p>
        </p:txBody>
      </p:sp>
      <p:sp>
        <p:nvSpPr>
          <p:cNvPr id="12" name="Questions and discussion">
            <a:extLst>
              <a:ext uri="{FF2B5EF4-FFF2-40B4-BE49-F238E27FC236}">
                <a16:creationId xmlns:a16="http://schemas.microsoft.com/office/drawing/2014/main" id="{0173E31E-DFC8-49D6-B6A5-A2E8BDABE0C7}"/>
              </a:ext>
            </a:extLst>
          </p:cNvPr>
          <p:cNvSpPr>
            <a:spLocks noGrp="1"/>
          </p:cNvSpPr>
          <p:nvPr/>
        </p:nvSpPr>
        <p:spPr>
          <a:xfrm>
            <a:off x="666750" y="2466975"/>
            <a:ext cx="10477500" cy="857250"/>
          </a:xfrm>
          <a:prstGeom prst="rect">
            <a:avLst/>
          </a:prstGeom>
          <a:noFill/>
          <a:ln w="0">
            <a:noFill/>
          </a:ln>
        </p:spPr>
        <p:txBody>
          <a:bodyPr wrap="square" lIns="0" tIns="0" rIns="0" bIns="0" anchor="t">
            <a:noAutofit/>
          </a:bodyPr>
          <a:lstStyle/>
          <a:p>
            <a:pPr>
              <a:defRPr sz="3300" b="1">
                <a:solidFill>
                  <a:srgbClr val="12263D"/>
                </a:solidFill>
                <a:latin typeface="Calibri"/>
                <a:ea typeface="Calibri"/>
                <a:cs typeface="Calibri"/>
              </a:defRPr>
            </a:pPr>
            <a:r>
              <a:rPr sz="3600" b="1" dirty="0">
                <a:solidFill>
                  <a:srgbClr val="12263D"/>
                </a:solidFill>
                <a:latin typeface="Calibri"/>
                <a:ea typeface="Calibri"/>
                <a:cs typeface="Calibri"/>
              </a:rPr>
              <a:t>Questions and </a:t>
            </a:r>
            <a:r>
              <a:rPr lang="en-US" sz="3600" b="1" dirty="0">
                <a:solidFill>
                  <a:srgbClr val="12263D"/>
                </a:solidFill>
                <a:latin typeface="Calibri"/>
                <a:ea typeface="Calibri"/>
                <a:cs typeface="Calibri"/>
              </a:rPr>
              <a:t>D</a:t>
            </a:r>
            <a:r>
              <a:rPr sz="3600" b="1" dirty="0">
                <a:solidFill>
                  <a:srgbClr val="12263D"/>
                </a:solidFill>
                <a:latin typeface="Calibri"/>
                <a:ea typeface="Calibri"/>
                <a:cs typeface="Calibri"/>
              </a:rPr>
              <a:t>iscussion</a:t>
            </a:r>
          </a:p>
        </p:txBody>
      </p:sp>
      <p:sp>
        <p:nvSpPr>
          <p:cNvPr id="13" name="[Presenter name]&#10;[Institution]">
            <a:extLst>
              <a:ext uri="{FF2B5EF4-FFF2-40B4-BE49-F238E27FC236}">
                <a16:creationId xmlns:a16="http://schemas.microsoft.com/office/drawing/2014/main" id="{A7470921-4089-472B-8E68-4CEBE372B6E3}"/>
              </a:ext>
            </a:extLst>
          </p:cNvPr>
          <p:cNvSpPr>
            <a:spLocks noGrp="1"/>
          </p:cNvSpPr>
          <p:nvPr/>
        </p:nvSpPr>
        <p:spPr>
          <a:xfrm>
            <a:off x="666750" y="3829050"/>
            <a:ext cx="9048750" cy="933450"/>
          </a:xfrm>
          <a:prstGeom prst="rect">
            <a:avLst/>
          </a:prstGeom>
          <a:noFill/>
          <a:ln w="0">
            <a:noFill/>
          </a:ln>
        </p:spPr>
        <p:txBody>
          <a:bodyPr wrap="square" lIns="0" tIns="0" rIns="0" bIns="0" anchor="t">
            <a:noAutofit/>
          </a:bodyPr>
          <a:lstStyle/>
          <a:p>
            <a:pPr>
              <a:defRPr sz="1950" b="0">
                <a:solidFill>
                  <a:srgbClr val="12263D"/>
                </a:solidFill>
                <a:latin typeface="Calibri"/>
                <a:ea typeface="Calibri"/>
                <a:cs typeface="Calibri"/>
              </a:defRPr>
            </a:pPr>
            <a:r>
              <a:rPr lang="en-US" sz="2400" dirty="0">
                <a:solidFill>
                  <a:srgbClr val="12263D"/>
                </a:solidFill>
                <a:latin typeface="Calibri"/>
                <a:ea typeface="Calibri"/>
                <a:cs typeface="Calibri"/>
              </a:rPr>
              <a:t> MD. Atif Rahman Rudro</a:t>
            </a:r>
            <a:endParaRPr sz="2400" b="0" dirty="0">
              <a:solidFill>
                <a:srgbClr val="12263D"/>
              </a:solidFill>
              <a:latin typeface="Calibri"/>
              <a:ea typeface="Calibri"/>
              <a:cs typeface="Calibri"/>
            </a:endParaRPr>
          </a:p>
          <a:p>
            <a:pPr>
              <a:defRPr sz="1950" b="0">
                <a:solidFill>
                  <a:srgbClr val="12263D"/>
                </a:solidFill>
                <a:latin typeface="Calibri"/>
                <a:ea typeface="Calibri"/>
                <a:cs typeface="Calibri"/>
              </a:defRPr>
            </a:pPr>
            <a:r>
              <a:rPr lang="en-US" sz="2400" dirty="0">
                <a:solidFill>
                  <a:srgbClr val="12263D"/>
                </a:solidFill>
                <a:latin typeface="Calibri"/>
                <a:ea typeface="Calibri"/>
                <a:cs typeface="Calibri"/>
              </a:rPr>
              <a:t> Mawlana </a:t>
            </a:r>
            <a:r>
              <a:rPr lang="en-US" sz="2400" dirty="0" err="1">
                <a:solidFill>
                  <a:srgbClr val="12263D"/>
                </a:solidFill>
                <a:latin typeface="Calibri"/>
                <a:ea typeface="Calibri"/>
                <a:cs typeface="Calibri"/>
              </a:rPr>
              <a:t>Bhashani</a:t>
            </a:r>
            <a:r>
              <a:rPr lang="en-US" sz="2400" dirty="0">
                <a:solidFill>
                  <a:srgbClr val="12263D"/>
                </a:solidFill>
                <a:latin typeface="Calibri"/>
                <a:ea typeface="Calibri"/>
                <a:cs typeface="Calibri"/>
              </a:rPr>
              <a:t> Science and Technology University</a:t>
            </a:r>
            <a:endParaRPr sz="2400" b="0" dirty="0">
              <a:solidFill>
                <a:srgbClr val="12263D"/>
              </a:solidFill>
              <a:latin typeface="Calibri"/>
              <a:ea typeface="Calibri"/>
              <a:cs typeface="Calibri"/>
            </a:endParaRPr>
          </a:p>
        </p:txBody>
      </p:sp>
      <p:sp>
        <p:nvSpPr>
          <p:cNvPr id="14" name="[Email address]">
            <a:extLst>
              <a:ext uri="{FF2B5EF4-FFF2-40B4-BE49-F238E27FC236}">
                <a16:creationId xmlns:a16="http://schemas.microsoft.com/office/drawing/2014/main" id="{C1E6CD2C-4868-4E7C-943E-8862F4B92936}"/>
              </a:ext>
            </a:extLst>
          </p:cNvPr>
          <p:cNvSpPr>
            <a:spLocks noGrp="1"/>
          </p:cNvSpPr>
          <p:nvPr/>
        </p:nvSpPr>
        <p:spPr>
          <a:xfrm>
            <a:off x="666750" y="5048250"/>
            <a:ext cx="9525000" cy="428625"/>
          </a:xfrm>
          <a:prstGeom prst="rect">
            <a:avLst/>
          </a:prstGeom>
          <a:noFill/>
          <a:ln w="0">
            <a:noFill/>
          </a:ln>
        </p:spPr>
        <p:txBody>
          <a:bodyPr wrap="square" lIns="0" tIns="0" rIns="0" bIns="0" anchor="t">
            <a:noAutofit/>
          </a:bodyPr>
          <a:lstStyle/>
          <a:p>
            <a:pPr>
              <a:defRPr sz="1750" b="0">
                <a:solidFill>
                  <a:srgbClr val="0067A6"/>
                </a:solidFill>
                <a:latin typeface="Calibri"/>
                <a:ea typeface="Calibri"/>
                <a:cs typeface="Calibri"/>
              </a:defRPr>
            </a:pPr>
            <a:r>
              <a:rPr lang="en-US" sz="2400" dirty="0">
                <a:solidFill>
                  <a:srgbClr val="0067A6"/>
                </a:solidFill>
                <a:latin typeface="Calibri"/>
                <a:ea typeface="Calibri"/>
                <a:cs typeface="Calibri"/>
              </a:rPr>
              <a:t> </a:t>
            </a:r>
            <a:r>
              <a:rPr sz="2400" b="1" dirty="0">
                <a:solidFill>
                  <a:srgbClr val="0067A6"/>
                </a:solidFill>
                <a:latin typeface="Calibri"/>
                <a:ea typeface="Calibri"/>
                <a:cs typeface="Calibri"/>
              </a:rPr>
              <a:t>Email address</a:t>
            </a:r>
            <a:r>
              <a:rPr lang="en-US" sz="2400" b="1" dirty="0">
                <a:solidFill>
                  <a:srgbClr val="0067A6"/>
                </a:solidFill>
                <a:latin typeface="Calibri"/>
                <a:ea typeface="Calibri"/>
                <a:cs typeface="Calibri"/>
              </a:rPr>
              <a:t> : </a:t>
            </a:r>
            <a:r>
              <a:rPr lang="en-US" sz="2400" b="0" dirty="0">
                <a:solidFill>
                  <a:srgbClr val="0067A6"/>
                </a:solidFill>
                <a:latin typeface="Calibri"/>
                <a:ea typeface="Calibri"/>
                <a:cs typeface="Calibri"/>
                <a:hlinkClick r:id="rId3"/>
              </a:rPr>
              <a:t>it22002@mbstu.ac.bd</a:t>
            </a:r>
            <a:endParaRPr sz="2400" b="0" dirty="0">
              <a:solidFill>
                <a:srgbClr val="0067A6"/>
              </a:solidFill>
              <a:latin typeface="Calibri"/>
              <a:ea typeface="Calibri"/>
              <a:cs typeface="Calibri"/>
            </a:endParaRPr>
          </a:p>
        </p:txBody>
      </p:sp>
      <p:pic>
        <p:nvPicPr>
          <p:cNvPr id="3" name="Picture 2" descr="image.png">
            <a:extLst>
              <a:ext uri="{FF2B5EF4-FFF2-40B4-BE49-F238E27FC236}">
                <a16:creationId xmlns:a16="http://schemas.microsoft.com/office/drawing/2014/main" id="{8898ED3A-A8C4-AE76-B5DA-B0513A3F8C29}"/>
              </a:ext>
            </a:extLst>
          </p:cNvPr>
          <p:cNvPicPr>
            <a:picLocks noChangeAspect="1"/>
          </p:cNvPicPr>
          <p:nvPr/>
        </p:nvPicPr>
        <p:blipFill>
          <a:blip r:embed="rId4"/>
          <a:stretch>
            <a:fillRect/>
          </a:stretch>
        </p:blipFill>
        <p:spPr>
          <a:xfrm>
            <a:off x="10950688" y="75407"/>
            <a:ext cx="1187224" cy="1163637"/>
          </a:xfrm>
          <a:prstGeom prst="rect">
            <a:avLst/>
          </a:prstGeom>
        </p:spPr>
      </p:pic>
    </p:spTree>
    <p:extLst>
      <p:ext uri="{BB962C8B-B14F-4D97-AF65-F5344CB8AC3E}">
        <p14:creationId xmlns:p14="http://schemas.microsoft.com/office/powerpoint/2010/main" val="2176089946"/>
      </p:ext>
    </p:extLst>
  </p:cSld>
  <p:clrMapOvr>
    <a:masterClrMapping/>
  </p:clrMapOvr>
</p:sld>
</file>

<file path=ppt/theme/theme1.xml><?xml version="1.0" encoding="utf-8"?>
<a:theme xmlns:a="http://schemas.openxmlformats.org/drawingml/2006/main" name="ChatGPT [1790918326173]">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A6DD010-3B72-4FC8-AAF5-76F0709E9778}">
  <we:reference id="WA200010001" version="1.0.0.1" store="Omex" storeType="OMEX"/>
  <we:alternateReferences>
    <we:reference id="WA200010001" version="1.0.0.1" store="WA200010001" storeType="OMEX"/>
  </we:alternateReferences>
  <we:properties>
    <we:property name="claude.fileId" value="&quot;7e5d6a73-9f5e-4bea-a595-d98a5a083ab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609</TotalTime>
  <Words>990</Words>
  <Application>Microsoft Office PowerPoint</Application>
  <DocSecurity>0</DocSecurity>
  <PresentationFormat>Widescreen</PresentationFormat>
  <Paragraphs>126</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Aptos</vt:lpstr>
      <vt:lpstr>Calibri</vt:lpstr>
      <vt:lpstr>ChatGPT [1790918326173]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Atif Rahman</cp:lastModifiedBy>
  <cp:revision>14</cp:revision>
  <dcterms:created xsi:type="dcterms:W3CDTF">2026-10-02T05:06:18Z</dcterms:created>
  <dcterms:modified xsi:type="dcterms:W3CDTF">2026-10-23T10:09:22Z</dcterms:modified>
</cp:coreProperties>
</file>